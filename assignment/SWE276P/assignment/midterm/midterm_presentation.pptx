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Brandon (30 seconds).
Good afternoon. We are Team ZotSync, and our project is the Program Registration and Attendance Data Hub for UCI's Graduate and Postdoctoral Scholar Resource Center, the GPSRC.
Our sponsor is Dr. Kayleigh Anderson-Natale, Director of Postdoc and Professional Development.
I'm Brandon and I handle the database and DevOps. Jennifer builds the frontend, Molly owns the backend and data import, and Eric owns the AI chatbot. Each of us will present one part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Molly (1 minute).
The GPSRC runs events all year. Students register on CampusGroups or 12twenty, and the two platforms export different columns. 12twenty does not even have a NetID.
After each event a student assistant pastes the attendee list into a yearly spreadsheet. A simple question, like how many unique students from one school came this term, means filtering, sorting and removing duplicates by hand.
The sponsor's real goal is better reporting: showing leadership who the GPSRC reaches, and finding the groups it is missing.
On October 21 the sponsor confirmed three targets for December 4: the chatbot answers at least 18 of 20 reporting questions correctly; the sample files reproduce the sponsor's compiled sheet, 293 rows and 79 unique NetIDs, with no duplicates; and any question goes to an Excel file in under a minute.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Eric (2 minutes).
This is the architecture as built. Everything runs on one GPSRC computer in three Docker containers. Nginx serves the React app and only listens on localhost, the FastAPI application does the work, and PostgreSQL stores one growing dataset. Public cloud is excluded for privacy.
The key design choice: the AI writes SQL, and the database computes the answer. The AI receives the schema and the question, never student rows, so counts are exact and staff can read the SQL behind every answer.
The bottom row is what happens to each question. A LangGraph graph asks the AI for SQL. Then two safety layers: sqlglot accepts only one SELECT on one view, and the query runs as a read-only database role with a five-second limit. Even if the check is bypassed, that role cannot change data or read other tables. If a query is rejected, the error goes back to the AI for repair, up to three tries.
Staff manage AI models in Settings, so they can switch between ZotGPT, OpenAI and DeepSeek with no code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Jennifer (2 minutes).
We built the MVP early, from October 20 to 22, using AI-assisted development with Claude Code. Each owner specified their part, reviewed the generated code and tested it. That puts us about a month ahead of the schedule in our charter.
This screenshot is the chat page. Staff type a question and get a one-line answer, a "How I read your question" note, the SQL, and buttons to download Excel or CSV. Upload, Dataset and Settings pages are done too.
On the sponsor's sample data, all three targets are met: 20 of 20 benchmark questions, plus 10 of 10 on held-out questions we wrote before tuning; the import reproduces the compiled sheet, 293 rows and 79 NetIDs, and re-uploading a file adds nothing; and a question becomes an Excel file in 4 to 7 seconds.
Nine of ten acceptance tests pass. The tenth is login, which we moved to Sprint 3. We have over 1,100 automated tests, we walked 63 user stories by hand, and we checked all 14 requests from the sponsor meeting. Thirteen passed, five of them with small caveats, and one found a gap, which Molly will cover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Molly (1 minute).
Privacy: the data has student names and emails, and the AI service is outside the computer. The AI only sees the schema when it writes SQL. Letting it read query results for a summary needs two switches, and the sponsor still has to approve it.
Trust: an AI answer can look right and be wrong, so every answer shows its SQL and the table, and we re-run a 30-question benchmark after every prompt change.
Double counting: walking the sponsor's requests, we found that downloading the same event a second time and uploading it creates a second event, so its attendees are counted twice. It is our first fix in Sprint 2.
Scope: the sponsor narrowed the project twice. We got measurable targets confirmed early, and we are collecting open questions for the Sprint 2 demo.
Two lessons: with AI-assisted coding, verifying and getting decisions is now the slow part, and testing against the sponsor's real requests catches what unit tests miss.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Brandon (1.5 minutes).
This is our updated timeline. Sprint 0 was scope and planning. Sprint 1, the current one, built the MVP; this week we check that UCI's ZotGPT service works with the Hub and meet the sponsor on October 28.
Sprint 2, November 3 to 16, starts with a demo for the sponsor in week 7. Then we fix the double counting and add three follow-up features from our MVP review: deleting chats, a Downloads page and an Insights button.
Sprint 3 adds staff login and automated CI, installs the Hub on the GPSRC computer, and trains the staff. The final demo is December 4 and the Capstone Showcase is December 7.
The main risks are outside our code: the sponsor's approval for the AI reading query results, ZotGPT access and AI credits, whether Docker can be installed on the GPSRC computer, and whether real export files match our synthetic samples.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Jennifer (30 seconds).
To sum up: we have a working MVP about a month ahead of plan, it meets all three success metrics on the sponsor's sample data, and its design keeps student rows away from the AI when it writes queries.
Thank you to Dr. Anderson-Natale and the GPSRC team for their time, the sample data and their feedback.
We are happy to take questions and feedback.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3D6D"/>
        </a:solidFill>
      </p:bgPr>
    </p:bg>
    <p:spTree>
      <p:nvGrpSpPr>
        <p:cNvPr id="1" name=""/>
        <p:cNvGrpSpPr/>
        <p:nvPr/>
      </p:nvGrpSpPr>
      <p:grpSpPr>
        <a:xfrm>
          <a:off x="0" y="0"/>
          <a:ext cx="0" cy="0"/>
          <a:chOff x="0" y="0"/>
          <a:chExt cx="0" cy="0"/>
        </a:xfrm>
      </p:grpSpPr>
      <p:sp>
        <p:nvSpPr>
          <p:cNvPr id="2" name="Text 0"/>
          <p:cNvSpPr/>
          <p:nvPr/>
        </p:nvSpPr>
        <p:spPr>
          <a:xfrm>
            <a:off x="548640" y="502920"/>
            <a:ext cx="6766560" cy="274320"/>
          </a:xfrm>
          <a:prstGeom prst="rect">
            <a:avLst/>
          </a:prstGeom>
          <a:noFill/>
          <a:ln/>
        </p:spPr>
        <p:txBody>
          <a:bodyPr wrap="square" lIns="0" tIns="0" rIns="0" bIns="0" rtlCol="0" anchor="ctr"/>
          <a:lstStyle/>
          <a:p>
            <a:pPr indent="0" marL="0">
              <a:buNone/>
            </a:pPr>
            <a:r>
              <a:rPr lang="en-US" sz="1200" b="1" spc="200" kern="0" dirty="0">
                <a:solidFill>
                  <a:srgbClr val="FECC07"/>
                </a:solidFill>
                <a:latin typeface="Arial" pitchFamily="34" charset="0"/>
                <a:ea typeface="Arial" pitchFamily="34" charset="-122"/>
                <a:cs typeface="Arial" pitchFamily="34" charset="-120"/>
              </a:rPr>
              <a:t>SWE 276P  ·  MIDTERM PRESENTATION  ·  FALL 2026</a:t>
            </a:r>
            <a:endParaRPr lang="en-US" sz="1200" dirty="0"/>
          </a:p>
        </p:txBody>
      </p:sp>
      <p:sp>
        <p:nvSpPr>
          <p:cNvPr id="3" name="Text 1"/>
          <p:cNvSpPr/>
          <p:nvPr/>
        </p:nvSpPr>
        <p:spPr>
          <a:xfrm>
            <a:off x="548640" y="868680"/>
            <a:ext cx="6583680" cy="1371600"/>
          </a:xfrm>
          <a:prstGeom prst="rect">
            <a:avLst/>
          </a:prstGeom>
          <a:noFill/>
          <a:ln/>
        </p:spPr>
        <p:txBody>
          <a:bodyPr wrap="square" lIns="0" tIns="0" rIns="0" bIns="0" rtlCol="0" anchor="t"/>
          <a:lstStyle/>
          <a:p>
            <a:pPr indent="0" marL="0">
              <a:buNone/>
            </a:pPr>
            <a:r>
              <a:rPr lang="en-US" sz="3800" b="1" dirty="0">
                <a:solidFill>
                  <a:srgbClr val="FFFFFF"/>
                </a:solidFill>
                <a:latin typeface="Arial" pitchFamily="34" charset="0"/>
                <a:ea typeface="Arial" pitchFamily="34" charset="-122"/>
                <a:cs typeface="Arial" pitchFamily="34" charset="-120"/>
              </a:rPr>
              <a:t>Program Registration &amp; Attendance Data Hub</a:t>
            </a:r>
            <a:endParaRPr lang="en-US" sz="3800" dirty="0"/>
          </a:p>
        </p:txBody>
      </p:sp>
      <p:sp>
        <p:nvSpPr>
          <p:cNvPr id="4" name="Text 2"/>
          <p:cNvSpPr/>
          <p:nvPr/>
        </p:nvSpPr>
        <p:spPr>
          <a:xfrm>
            <a:off x="548640" y="2331720"/>
            <a:ext cx="6309360" cy="685800"/>
          </a:xfrm>
          <a:prstGeom prst="rect">
            <a:avLst/>
          </a:prstGeom>
          <a:noFill/>
          <a:ln/>
        </p:spPr>
        <p:txBody>
          <a:bodyPr wrap="square" lIns="0" tIns="0" rIns="0" bIns="0" rtlCol="0" anchor="t"/>
          <a:lstStyle/>
          <a:p>
            <a:pPr indent="0" marL="0">
              <a:buNone/>
            </a:pPr>
            <a:r>
              <a:rPr lang="en-US" sz="1700" dirty="0">
                <a:solidFill>
                  <a:srgbClr val="DCE5F1"/>
                </a:solidFill>
                <a:latin typeface="Arial" pitchFamily="34" charset="0"/>
                <a:ea typeface="Arial" pitchFamily="34" charset="-122"/>
                <a:cs typeface="Arial" pitchFamily="34" charset="-120"/>
              </a:rPr>
              <a:t>Upload each event's export. Ask questions in plain English. Download the answer as Excel.</a:t>
            </a:r>
            <a:endParaRPr lang="en-US" sz="1700" dirty="0"/>
          </a:p>
        </p:txBody>
      </p:sp>
      <p:sp>
        <p:nvSpPr>
          <p:cNvPr id="5" name="Text 3"/>
          <p:cNvSpPr/>
          <p:nvPr/>
        </p:nvSpPr>
        <p:spPr>
          <a:xfrm>
            <a:off x="548640" y="3154680"/>
            <a:ext cx="6400800" cy="868680"/>
          </a:xfrm>
          <a:prstGeom prst="rect">
            <a:avLst/>
          </a:prstGeom>
          <a:noFill/>
          <a:ln/>
        </p:spPr>
        <p:txBody>
          <a:bodyPr wrap="square" lIns="0" tIns="0" rIns="0" bIns="0" rtlCol="0" anchor="t"/>
          <a:lstStyle/>
          <a:p>
            <a:pPr indent="0" marL="0">
              <a:buNone/>
            </a:pPr>
            <a:r>
              <a:rPr lang="en-US" sz="1100" b="1" spc="200" kern="0" dirty="0">
                <a:solidFill>
                  <a:srgbClr val="FECC07"/>
                </a:solidFill>
                <a:latin typeface="Arial" pitchFamily="34" charset="0"/>
                <a:ea typeface="Arial" pitchFamily="34" charset="-122"/>
                <a:cs typeface="Arial" pitchFamily="34" charset="-120"/>
              </a:rPr>
              <a:t>SPONSOR</a:t>
            </a:r>
            <a:endParaRPr lang="en-US" sz="1100" dirty="0"/>
          </a:p>
          <a:p>
            <a:pPr indent="0" marL="0">
              <a:buNone/>
            </a:pPr>
            <a:r>
              <a:rPr lang="en-US" sz="1500" b="1" dirty="0">
                <a:solidFill>
                  <a:srgbClr val="FFFFFF"/>
                </a:solidFill>
                <a:latin typeface="Arial" pitchFamily="34" charset="0"/>
                <a:ea typeface="Arial" pitchFamily="34" charset="-122"/>
                <a:cs typeface="Arial" pitchFamily="34" charset="-120"/>
              </a:rPr>
              <a:t>Kayleigh Anderson-Natale, PhD</a:t>
            </a:r>
            <a:endParaRPr lang="en-US" sz="1100" dirty="0"/>
          </a:p>
          <a:p>
            <a:pPr indent="0" marL="0">
              <a:buNone/>
            </a:pPr>
            <a:r>
              <a:rPr lang="en-US" sz="1250" dirty="0">
                <a:solidFill>
                  <a:srgbClr val="DCE5F1"/>
                </a:solidFill>
                <a:latin typeface="Arial" pitchFamily="34" charset="0"/>
                <a:ea typeface="Arial" pitchFamily="34" charset="-122"/>
                <a:cs typeface="Arial" pitchFamily="34" charset="-120"/>
              </a:rPr>
              <a:t>Director of Postdoc and Professional Development, GPSRC, UCI Graduate Division</a:t>
            </a:r>
            <a:endParaRPr lang="en-US" sz="1100" dirty="0"/>
          </a:p>
        </p:txBody>
      </p:sp>
      <p:sp>
        <p:nvSpPr>
          <p:cNvPr id="6" name="Shape 4"/>
          <p:cNvSpPr/>
          <p:nvPr/>
        </p:nvSpPr>
        <p:spPr>
          <a:xfrm>
            <a:off x="7424928" y="566928"/>
            <a:ext cx="4224528" cy="3227832"/>
          </a:xfrm>
          <a:prstGeom prst="rect">
            <a:avLst/>
          </a:prstGeom>
          <a:solidFill>
            <a:srgbClr val="FFFFFF"/>
          </a:solidFill>
          <a:ln w="12700">
            <a:solidFill>
              <a:srgbClr val="FFFFFF"/>
            </a:solidFill>
            <a:prstDash val="solid"/>
          </a:ln>
          <a:effectLst>
            <a:outerShdw sx="100000" sy="100000" kx="0" ky="0" algn="bl" rotWithShape="0" blurRad="101600" dist="25400" dir="5400000">
              <a:srgbClr val="000000">
                <a:alpha val="18000"/>
              </a:srgbClr>
            </a:outerShdw>
          </a:effectLst>
        </p:spPr>
      </p:sp>
      <p:pic>
        <p:nvPicPr>
          <p:cNvPr id="7" name="Image 0" descr="/Users/ericsong/Course/SWE277P/assignment/SWE276P/assignment/midterm/images/03-chat-answer.png">    </p:cNvPr>
          <p:cNvPicPr>
            <a:picLocks noChangeAspect="1"/>
          </p:cNvPicPr>
          <p:nvPr/>
        </p:nvPicPr>
        <p:blipFill>
          <a:blip r:embed="rId1"/>
          <a:stretch>
            <a:fillRect/>
          </a:stretch>
        </p:blipFill>
        <p:spPr>
          <a:xfrm>
            <a:off x="7434072" y="576072"/>
            <a:ext cx="4206240" cy="3209544"/>
          </a:xfrm>
          <a:prstGeom prst="rect">
            <a:avLst/>
          </a:prstGeom>
        </p:spPr>
      </p:pic>
      <p:sp>
        <p:nvSpPr>
          <p:cNvPr id="8" name="Text 5"/>
          <p:cNvSpPr/>
          <p:nvPr/>
        </p:nvSpPr>
        <p:spPr>
          <a:xfrm>
            <a:off x="548640" y="4526280"/>
            <a:ext cx="3657600" cy="274320"/>
          </a:xfrm>
          <a:prstGeom prst="rect">
            <a:avLst/>
          </a:prstGeom>
          <a:noFill/>
          <a:ln/>
        </p:spPr>
        <p:txBody>
          <a:bodyPr wrap="square" lIns="0" tIns="0" rIns="0" bIns="0" rtlCol="0" anchor="ctr"/>
          <a:lstStyle/>
          <a:p>
            <a:pPr indent="0" marL="0">
              <a:buNone/>
            </a:pPr>
            <a:r>
              <a:rPr lang="en-US" sz="1100" b="1" spc="200" kern="0" dirty="0">
                <a:solidFill>
                  <a:srgbClr val="FECC07"/>
                </a:solidFill>
                <a:latin typeface="Arial" pitchFamily="34" charset="0"/>
                <a:ea typeface="Arial" pitchFamily="34" charset="-122"/>
                <a:cs typeface="Arial" pitchFamily="34" charset="-120"/>
              </a:rPr>
              <a:t>TEAM ZOTSYNC</a:t>
            </a:r>
            <a:endParaRPr lang="en-US" sz="1100" dirty="0"/>
          </a:p>
        </p:txBody>
      </p:sp>
      <p:sp>
        <p:nvSpPr>
          <p:cNvPr id="9" name="Shape 6"/>
          <p:cNvSpPr/>
          <p:nvPr/>
        </p:nvSpPr>
        <p:spPr>
          <a:xfrm>
            <a:off x="548640" y="4892040"/>
            <a:ext cx="2567864" cy="1143000"/>
          </a:xfrm>
          <a:prstGeom prst="roundRect">
            <a:avLst>
              <a:gd name="adj" fmla="val 6400"/>
            </a:avLst>
          </a:prstGeom>
          <a:solidFill>
            <a:srgbClr val="255799"/>
          </a:solidFill>
          <a:ln w="12700">
            <a:solidFill>
              <a:srgbClr val="255799"/>
            </a:solidFill>
            <a:prstDash val="solid"/>
          </a:ln>
        </p:spPr>
      </p:sp>
      <p:sp>
        <p:nvSpPr>
          <p:cNvPr id="10" name="Text 7"/>
          <p:cNvSpPr/>
          <p:nvPr/>
        </p:nvSpPr>
        <p:spPr>
          <a:xfrm>
            <a:off x="777240" y="4892040"/>
            <a:ext cx="2202104" cy="114300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Brandon Y Lau</a:t>
            </a:r>
            <a:endParaRPr lang="en-US" sz="1600" dirty="0"/>
          </a:p>
          <a:p>
            <a:pPr indent="0" marL="0">
              <a:buNone/>
            </a:pPr>
            <a:r>
              <a:rPr lang="en-US" sz="1300" dirty="0">
                <a:solidFill>
                  <a:srgbClr val="FECC07"/>
                </a:solidFill>
                <a:latin typeface="Arial" pitchFamily="34" charset="0"/>
                <a:ea typeface="Arial" pitchFamily="34" charset="-122"/>
                <a:cs typeface="Arial" pitchFamily="34" charset="-120"/>
              </a:rPr>
              <a:t>Database / DevOps</a:t>
            </a:r>
            <a:endParaRPr lang="en-US" sz="1600" dirty="0"/>
          </a:p>
        </p:txBody>
      </p:sp>
      <p:sp>
        <p:nvSpPr>
          <p:cNvPr id="11" name="Shape 8"/>
          <p:cNvSpPr/>
          <p:nvPr/>
        </p:nvSpPr>
        <p:spPr>
          <a:xfrm>
            <a:off x="3390824" y="4892040"/>
            <a:ext cx="2567864" cy="1143000"/>
          </a:xfrm>
          <a:prstGeom prst="roundRect">
            <a:avLst>
              <a:gd name="adj" fmla="val 6400"/>
            </a:avLst>
          </a:prstGeom>
          <a:solidFill>
            <a:srgbClr val="255799"/>
          </a:solidFill>
          <a:ln w="12700">
            <a:solidFill>
              <a:srgbClr val="255799"/>
            </a:solidFill>
            <a:prstDash val="solid"/>
          </a:ln>
        </p:spPr>
      </p:sp>
      <p:sp>
        <p:nvSpPr>
          <p:cNvPr id="12" name="Text 9"/>
          <p:cNvSpPr/>
          <p:nvPr/>
        </p:nvSpPr>
        <p:spPr>
          <a:xfrm>
            <a:off x="3619424" y="4892040"/>
            <a:ext cx="2202104" cy="114300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Jennifer Sun</a:t>
            </a:r>
            <a:endParaRPr lang="en-US" sz="1600" dirty="0"/>
          </a:p>
          <a:p>
            <a:pPr indent="0" marL="0">
              <a:buNone/>
            </a:pPr>
            <a:r>
              <a:rPr lang="en-US" sz="1300" dirty="0">
                <a:solidFill>
                  <a:srgbClr val="FECC07"/>
                </a:solidFill>
                <a:latin typeface="Arial" pitchFamily="34" charset="0"/>
                <a:ea typeface="Arial" pitchFamily="34" charset="-122"/>
                <a:cs typeface="Arial" pitchFamily="34" charset="-120"/>
              </a:rPr>
              <a:t>Frontend</a:t>
            </a:r>
            <a:endParaRPr lang="en-US" sz="1600" dirty="0"/>
          </a:p>
        </p:txBody>
      </p:sp>
      <p:sp>
        <p:nvSpPr>
          <p:cNvPr id="13" name="Shape 10"/>
          <p:cNvSpPr/>
          <p:nvPr/>
        </p:nvSpPr>
        <p:spPr>
          <a:xfrm>
            <a:off x="6233008" y="4892040"/>
            <a:ext cx="2567864" cy="1143000"/>
          </a:xfrm>
          <a:prstGeom prst="roundRect">
            <a:avLst>
              <a:gd name="adj" fmla="val 6400"/>
            </a:avLst>
          </a:prstGeom>
          <a:solidFill>
            <a:srgbClr val="255799"/>
          </a:solidFill>
          <a:ln w="12700">
            <a:solidFill>
              <a:srgbClr val="255799"/>
            </a:solidFill>
            <a:prstDash val="solid"/>
          </a:ln>
        </p:spPr>
      </p:sp>
      <p:sp>
        <p:nvSpPr>
          <p:cNvPr id="14" name="Text 11"/>
          <p:cNvSpPr/>
          <p:nvPr/>
        </p:nvSpPr>
        <p:spPr>
          <a:xfrm>
            <a:off x="6461608" y="4892040"/>
            <a:ext cx="2202104" cy="114300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Molly Tran</a:t>
            </a:r>
            <a:endParaRPr lang="en-US" sz="1600" dirty="0"/>
          </a:p>
          <a:p>
            <a:pPr indent="0" marL="0">
              <a:buNone/>
            </a:pPr>
            <a:r>
              <a:rPr lang="en-US" sz="1300" dirty="0">
                <a:solidFill>
                  <a:srgbClr val="FECC07"/>
                </a:solidFill>
                <a:latin typeface="Arial" pitchFamily="34" charset="0"/>
                <a:ea typeface="Arial" pitchFamily="34" charset="-122"/>
                <a:cs typeface="Arial" pitchFamily="34" charset="-120"/>
              </a:rPr>
              <a:t>Backend / Data Import</a:t>
            </a:r>
            <a:endParaRPr lang="en-US" sz="1600" dirty="0"/>
          </a:p>
        </p:txBody>
      </p:sp>
      <p:sp>
        <p:nvSpPr>
          <p:cNvPr id="15" name="Shape 12"/>
          <p:cNvSpPr/>
          <p:nvPr/>
        </p:nvSpPr>
        <p:spPr>
          <a:xfrm>
            <a:off x="9075191" y="4892040"/>
            <a:ext cx="2567864" cy="1143000"/>
          </a:xfrm>
          <a:prstGeom prst="roundRect">
            <a:avLst>
              <a:gd name="adj" fmla="val 6400"/>
            </a:avLst>
          </a:prstGeom>
          <a:solidFill>
            <a:srgbClr val="255799"/>
          </a:solidFill>
          <a:ln w="12700">
            <a:solidFill>
              <a:srgbClr val="255799"/>
            </a:solidFill>
            <a:prstDash val="solid"/>
          </a:ln>
        </p:spPr>
      </p:sp>
      <p:sp>
        <p:nvSpPr>
          <p:cNvPr id="16" name="Text 13"/>
          <p:cNvSpPr/>
          <p:nvPr/>
        </p:nvSpPr>
        <p:spPr>
          <a:xfrm>
            <a:off x="9303791" y="4892040"/>
            <a:ext cx="2202104" cy="114300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Zhenyu (Eric) Song</a:t>
            </a:r>
            <a:endParaRPr lang="en-US" sz="1600" dirty="0"/>
          </a:p>
          <a:p>
            <a:pPr indent="0" marL="0">
              <a:buNone/>
            </a:pPr>
            <a:r>
              <a:rPr lang="en-US" sz="1300" dirty="0">
                <a:solidFill>
                  <a:srgbClr val="FECC07"/>
                </a:solidFill>
                <a:latin typeface="Arial" pitchFamily="34" charset="0"/>
                <a:ea typeface="Arial" pitchFamily="34" charset="-122"/>
                <a:cs typeface="Arial" pitchFamily="34" charset="-120"/>
              </a:rPr>
              <a:t>AI / Chatbot</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8229600" cy="274320"/>
          </a:xfrm>
          <a:prstGeom prst="rect">
            <a:avLst/>
          </a:prstGeom>
          <a:noFill/>
          <a:ln/>
        </p:spPr>
        <p:txBody>
          <a:bodyPr wrap="square" lIns="0" tIns="0" rIns="0" bIns="0" rtlCol="0" anchor="ctr"/>
          <a:lstStyle/>
          <a:p>
            <a:pPr indent="0" marL="0">
              <a:buNone/>
            </a:pPr>
            <a:r>
              <a:rPr lang="en-US" sz="1200" b="1" spc="200" kern="0" dirty="0">
                <a:solidFill>
                  <a:srgbClr val="255799"/>
                </a:solidFill>
                <a:latin typeface="Arial" pitchFamily="34" charset="0"/>
                <a:ea typeface="Arial" pitchFamily="34" charset="-122"/>
                <a:cs typeface="Arial" pitchFamily="34" charset="-120"/>
              </a:rPr>
              <a:t>PROBLEM &amp; OBJECTIVES</a:t>
            </a:r>
            <a:endParaRPr lang="en-US" sz="1200" dirty="0"/>
          </a:p>
        </p:txBody>
      </p:sp>
      <p:sp>
        <p:nvSpPr>
          <p:cNvPr id="3" name="Text 1"/>
          <p:cNvSpPr/>
          <p:nvPr/>
        </p:nvSpPr>
        <p:spPr>
          <a:xfrm>
            <a:off x="548640" y="621792"/>
            <a:ext cx="11094415" cy="640080"/>
          </a:xfrm>
          <a:prstGeom prst="rect">
            <a:avLst/>
          </a:prstGeom>
          <a:noFill/>
          <a:ln/>
        </p:spPr>
        <p:txBody>
          <a:bodyPr wrap="square" lIns="0" tIns="0" rIns="0" bIns="0" rtlCol="0" anchor="ctr"/>
          <a:lstStyle/>
          <a:p>
            <a:pPr indent="0" marL="0">
              <a:buNone/>
            </a:pPr>
            <a:r>
              <a:rPr lang="en-US" sz="3000" b="1" dirty="0">
                <a:solidFill>
                  <a:srgbClr val="1B3D6D"/>
                </a:solidFill>
                <a:latin typeface="Arial" pitchFamily="34" charset="0"/>
                <a:ea typeface="Arial" pitchFamily="34" charset="-122"/>
                <a:cs typeface="Arial" pitchFamily="34" charset="-120"/>
              </a:rPr>
              <a:t>Event attendance data is scattered across spreadsheets</a:t>
            </a:r>
            <a:endParaRPr lang="en-US" sz="3000" dirty="0"/>
          </a:p>
        </p:txBody>
      </p:sp>
      <p:sp>
        <p:nvSpPr>
          <p:cNvPr id="4" name="Text 2"/>
          <p:cNvSpPr/>
          <p:nvPr/>
        </p:nvSpPr>
        <p:spPr>
          <a:xfrm>
            <a:off x="11185855" y="6400800"/>
            <a:ext cx="457200" cy="274320"/>
          </a:xfrm>
          <a:prstGeom prst="rect">
            <a:avLst/>
          </a:prstGeom>
          <a:noFill/>
          <a:ln/>
        </p:spPr>
        <p:txBody>
          <a:bodyPr wrap="square" lIns="0" tIns="0" rIns="0" bIns="0" rtlCol="0" anchor="ctr"/>
          <a:lstStyle/>
          <a:p>
            <a:pPr algn="r" indent="0" marL="0">
              <a:buNone/>
            </a:pPr>
            <a:r>
              <a:rPr lang="en-US" sz="1000" dirty="0">
                <a:solidFill>
                  <a:srgbClr val="7B8FAE"/>
                </a:solidFill>
                <a:latin typeface="Arial" pitchFamily="34" charset="0"/>
                <a:ea typeface="Arial" pitchFamily="34" charset="-122"/>
                <a:cs typeface="Arial" pitchFamily="34" charset="-120"/>
              </a:rPr>
              <a:t>2</a:t>
            </a:r>
            <a:endParaRPr lang="en-US" sz="1000" dirty="0"/>
          </a:p>
        </p:txBody>
      </p:sp>
      <p:sp>
        <p:nvSpPr>
          <p:cNvPr id="5" name="Text 3"/>
          <p:cNvSpPr/>
          <p:nvPr/>
        </p:nvSpPr>
        <p:spPr>
          <a:xfrm>
            <a:off x="548640" y="1554480"/>
            <a:ext cx="5120640" cy="365760"/>
          </a:xfrm>
          <a:prstGeom prst="rect">
            <a:avLst/>
          </a:prstGeom>
          <a:noFill/>
          <a:ln/>
        </p:spPr>
        <p:txBody>
          <a:bodyPr wrap="square" lIns="0" tIns="0" rIns="0" bIns="0" rtlCol="0" anchor="ctr"/>
          <a:lstStyle/>
          <a:p>
            <a:pPr indent="0" marL="0">
              <a:buNone/>
            </a:pPr>
            <a:r>
              <a:rPr lang="en-US" sz="1800" b="1" dirty="0">
                <a:solidFill>
                  <a:srgbClr val="002244"/>
                </a:solidFill>
                <a:latin typeface="Arial" pitchFamily="34" charset="0"/>
                <a:ea typeface="Arial" pitchFamily="34" charset="-122"/>
                <a:cs typeface="Arial" pitchFamily="34" charset="-120"/>
              </a:rPr>
              <a:t>Today</a:t>
            </a:r>
            <a:endParaRPr lang="en-US" sz="1800" dirty="0"/>
          </a:p>
        </p:txBody>
      </p:sp>
      <p:sp>
        <p:nvSpPr>
          <p:cNvPr id="6" name="Shape 4"/>
          <p:cNvSpPr/>
          <p:nvPr/>
        </p:nvSpPr>
        <p:spPr>
          <a:xfrm>
            <a:off x="548640" y="2148840"/>
            <a:ext cx="685800" cy="685800"/>
          </a:xfrm>
          <a:prstGeom prst="ellipse">
            <a:avLst/>
          </a:prstGeom>
          <a:solidFill>
            <a:srgbClr val="E4ECF6"/>
          </a:solidFill>
          <a:ln w="12700">
            <a:solidFill>
              <a:srgbClr val="E4ECF6"/>
            </a:solidFill>
            <a:prstDash val="solid"/>
          </a:ln>
        </p:spPr>
      </p:sp>
      <p:pic>
        <p:nvPicPr>
          <p:cNvPr id="7" name="Image 0" descr="preencoded.png">    </p:cNvPr>
          <p:cNvPicPr>
            <a:picLocks noChangeAspect="1"/>
          </p:cNvPicPr>
          <p:nvPr/>
        </p:nvPicPr>
        <p:blipFill>
          <a:blip r:embed="rId1"/>
          <a:stretch>
            <a:fillRect/>
          </a:stretch>
        </p:blipFill>
        <p:spPr>
          <a:xfrm>
            <a:off x="699516" y="2299716"/>
            <a:ext cx="384048" cy="384048"/>
          </a:xfrm>
          <a:prstGeom prst="rect">
            <a:avLst/>
          </a:prstGeom>
        </p:spPr>
      </p:pic>
      <p:sp>
        <p:nvSpPr>
          <p:cNvPr id="8" name="Text 5"/>
          <p:cNvSpPr/>
          <p:nvPr/>
        </p:nvSpPr>
        <p:spPr>
          <a:xfrm>
            <a:off x="1463040" y="2103120"/>
            <a:ext cx="4343400" cy="1005840"/>
          </a:xfrm>
          <a:prstGeom prst="rect">
            <a:avLst/>
          </a:prstGeom>
          <a:noFill/>
          <a:ln/>
        </p:spPr>
        <p:txBody>
          <a:bodyPr wrap="square" lIns="0" tIns="0" rIns="0" bIns="0" rtlCol="0" anchor="t"/>
          <a:lstStyle/>
          <a:p>
            <a:pPr indent="0" marL="0">
              <a:spcAft>
                <a:spcPts val="300"/>
              </a:spcAft>
              <a:buNone/>
            </a:pPr>
            <a:r>
              <a:rPr lang="en-US" sz="1600" b="1" dirty="0">
                <a:solidFill>
                  <a:srgbClr val="002244"/>
                </a:solidFill>
                <a:latin typeface="Arial" pitchFamily="34" charset="0"/>
                <a:ea typeface="Arial" pitchFamily="34" charset="-122"/>
                <a:cs typeface="Arial" pitchFamily="34" charset="-120"/>
              </a:rPr>
              <a:t>Two platforms, two formats</a:t>
            </a:r>
            <a:endParaRPr lang="en-US" sz="1600" dirty="0"/>
          </a:p>
          <a:p>
            <a:pPr indent="0" marL="0">
              <a:spcAft>
                <a:spcPts val="300"/>
              </a:spcAft>
              <a:buNone/>
            </a:pPr>
            <a:r>
              <a:rPr lang="en-US" sz="1350" dirty="0">
                <a:solidFill>
                  <a:srgbClr val="555759"/>
                </a:solidFill>
                <a:latin typeface="Arial" pitchFamily="34" charset="0"/>
                <a:ea typeface="Arial" pitchFamily="34" charset="-122"/>
                <a:cs typeface="Arial" pitchFamily="34" charset="-120"/>
              </a:rPr>
              <a:t>CampusGroups and 12twenty export different columns. 12twenty has no NetID.</a:t>
            </a:r>
            <a:endParaRPr lang="en-US" sz="1600" dirty="0"/>
          </a:p>
        </p:txBody>
      </p:sp>
      <p:sp>
        <p:nvSpPr>
          <p:cNvPr id="9" name="Shape 6"/>
          <p:cNvSpPr/>
          <p:nvPr/>
        </p:nvSpPr>
        <p:spPr>
          <a:xfrm>
            <a:off x="548640" y="3474720"/>
            <a:ext cx="685800" cy="685800"/>
          </a:xfrm>
          <a:prstGeom prst="ellipse">
            <a:avLst/>
          </a:prstGeom>
          <a:solidFill>
            <a:srgbClr val="E4ECF6"/>
          </a:solidFill>
          <a:ln w="12700">
            <a:solidFill>
              <a:srgbClr val="E4ECF6"/>
            </a:solidFill>
            <a:prstDash val="solid"/>
          </a:ln>
        </p:spPr>
      </p:sp>
      <p:pic>
        <p:nvPicPr>
          <p:cNvPr id="10" name="Image 1" descr="preencoded.png">    </p:cNvPr>
          <p:cNvPicPr>
            <a:picLocks noChangeAspect="1"/>
          </p:cNvPicPr>
          <p:nvPr/>
        </p:nvPicPr>
        <p:blipFill>
          <a:blip r:embed="rId2"/>
          <a:stretch>
            <a:fillRect/>
          </a:stretch>
        </p:blipFill>
        <p:spPr>
          <a:xfrm>
            <a:off x="699516" y="3625596"/>
            <a:ext cx="384048" cy="384048"/>
          </a:xfrm>
          <a:prstGeom prst="rect">
            <a:avLst/>
          </a:prstGeom>
        </p:spPr>
      </p:pic>
      <p:sp>
        <p:nvSpPr>
          <p:cNvPr id="11" name="Text 7"/>
          <p:cNvSpPr/>
          <p:nvPr/>
        </p:nvSpPr>
        <p:spPr>
          <a:xfrm>
            <a:off x="1463040" y="3429000"/>
            <a:ext cx="4343400" cy="1005840"/>
          </a:xfrm>
          <a:prstGeom prst="rect">
            <a:avLst/>
          </a:prstGeom>
          <a:noFill/>
          <a:ln/>
        </p:spPr>
        <p:txBody>
          <a:bodyPr wrap="square" lIns="0" tIns="0" rIns="0" bIns="0" rtlCol="0" anchor="t"/>
          <a:lstStyle/>
          <a:p>
            <a:pPr indent="0" marL="0">
              <a:spcAft>
                <a:spcPts val="300"/>
              </a:spcAft>
              <a:buNone/>
            </a:pPr>
            <a:r>
              <a:rPr lang="en-US" sz="1600" b="1" dirty="0">
                <a:solidFill>
                  <a:srgbClr val="002244"/>
                </a:solidFill>
                <a:latin typeface="Arial" pitchFamily="34" charset="0"/>
                <a:ea typeface="Arial" pitchFamily="34" charset="-122"/>
                <a:cs typeface="Arial" pitchFamily="34" charset="-120"/>
              </a:rPr>
              <a:t>Copied by hand</a:t>
            </a:r>
            <a:endParaRPr lang="en-US" sz="1600" dirty="0"/>
          </a:p>
          <a:p>
            <a:pPr indent="0" marL="0">
              <a:spcAft>
                <a:spcPts val="300"/>
              </a:spcAft>
              <a:buNone/>
            </a:pPr>
            <a:r>
              <a:rPr lang="en-US" sz="1350" dirty="0">
                <a:solidFill>
                  <a:srgbClr val="555759"/>
                </a:solidFill>
                <a:latin typeface="Arial" pitchFamily="34" charset="0"/>
                <a:ea typeface="Arial" pitchFamily="34" charset="-122"/>
                <a:cs typeface="Arial" pitchFamily="34" charset="-120"/>
              </a:rPr>
              <a:t>A student assistant pastes each event's list into a yearly sheet.</a:t>
            </a:r>
            <a:endParaRPr lang="en-US" sz="1600" dirty="0"/>
          </a:p>
        </p:txBody>
      </p:sp>
      <p:sp>
        <p:nvSpPr>
          <p:cNvPr id="12" name="Shape 8"/>
          <p:cNvSpPr/>
          <p:nvPr/>
        </p:nvSpPr>
        <p:spPr>
          <a:xfrm>
            <a:off x="548640" y="4800600"/>
            <a:ext cx="685800" cy="685800"/>
          </a:xfrm>
          <a:prstGeom prst="ellipse">
            <a:avLst/>
          </a:prstGeom>
          <a:solidFill>
            <a:srgbClr val="E4ECF6"/>
          </a:solidFill>
          <a:ln w="12700">
            <a:solidFill>
              <a:srgbClr val="E4ECF6"/>
            </a:solidFill>
            <a:prstDash val="solid"/>
          </a:ln>
        </p:spPr>
      </p:sp>
      <p:pic>
        <p:nvPicPr>
          <p:cNvPr id="13" name="Image 2" descr="preencoded.png">    </p:cNvPr>
          <p:cNvPicPr>
            <a:picLocks noChangeAspect="1"/>
          </p:cNvPicPr>
          <p:nvPr/>
        </p:nvPicPr>
        <p:blipFill>
          <a:blip r:embed="rId3"/>
          <a:stretch>
            <a:fillRect/>
          </a:stretch>
        </p:blipFill>
        <p:spPr>
          <a:xfrm>
            <a:off x="699516" y="4951476"/>
            <a:ext cx="384048" cy="384048"/>
          </a:xfrm>
          <a:prstGeom prst="rect">
            <a:avLst/>
          </a:prstGeom>
        </p:spPr>
      </p:pic>
      <p:sp>
        <p:nvSpPr>
          <p:cNvPr id="14" name="Text 9"/>
          <p:cNvSpPr/>
          <p:nvPr/>
        </p:nvSpPr>
        <p:spPr>
          <a:xfrm>
            <a:off x="1463040" y="4754880"/>
            <a:ext cx="4343400" cy="1005840"/>
          </a:xfrm>
          <a:prstGeom prst="rect">
            <a:avLst/>
          </a:prstGeom>
          <a:noFill/>
          <a:ln/>
        </p:spPr>
        <p:txBody>
          <a:bodyPr wrap="square" lIns="0" tIns="0" rIns="0" bIns="0" rtlCol="0" anchor="t"/>
          <a:lstStyle/>
          <a:p>
            <a:pPr indent="0" marL="0">
              <a:spcAft>
                <a:spcPts val="300"/>
              </a:spcAft>
              <a:buNone/>
            </a:pPr>
            <a:r>
              <a:rPr lang="en-US" sz="1600" b="1" dirty="0">
                <a:solidFill>
                  <a:srgbClr val="002244"/>
                </a:solidFill>
                <a:latin typeface="Arial" pitchFamily="34" charset="0"/>
                <a:ea typeface="Arial" pitchFamily="34" charset="-122"/>
                <a:cs typeface="Arial" pitchFamily="34" charset="-120"/>
              </a:rPr>
              <a:t>Slow to answer</a:t>
            </a:r>
            <a:endParaRPr lang="en-US" sz="1600" dirty="0"/>
          </a:p>
          <a:p>
            <a:pPr indent="0" marL="0">
              <a:spcAft>
                <a:spcPts val="300"/>
              </a:spcAft>
              <a:buNone/>
            </a:pPr>
            <a:r>
              <a:rPr lang="en-US" sz="1350" dirty="0">
                <a:solidFill>
                  <a:srgbClr val="555759"/>
                </a:solidFill>
                <a:latin typeface="Arial" pitchFamily="34" charset="0"/>
                <a:ea typeface="Arial" pitchFamily="34" charset="-122"/>
                <a:cs typeface="Arial" pitchFamily="34" charset="-120"/>
              </a:rPr>
              <a:t>Unique students by school means filtering, sorting and de-duplicating in Excel.</a:t>
            </a:r>
            <a:endParaRPr lang="en-US" sz="1600" dirty="0"/>
          </a:p>
        </p:txBody>
      </p:sp>
      <p:sp>
        <p:nvSpPr>
          <p:cNvPr id="15" name="Shape 10"/>
          <p:cNvSpPr/>
          <p:nvPr/>
        </p:nvSpPr>
        <p:spPr>
          <a:xfrm>
            <a:off x="6263640" y="1463040"/>
            <a:ext cx="5379415" cy="4709160"/>
          </a:xfrm>
          <a:prstGeom prst="roundRect">
            <a:avLst>
              <a:gd name="adj" fmla="val 1942"/>
            </a:avLst>
          </a:prstGeom>
          <a:solidFill>
            <a:srgbClr val="F3F6FA"/>
          </a:solidFill>
          <a:ln w="12700">
            <a:solidFill>
              <a:srgbClr val="F3F6FA"/>
            </a:solidFill>
            <a:prstDash val="solid"/>
          </a:ln>
        </p:spPr>
      </p:sp>
      <p:sp>
        <p:nvSpPr>
          <p:cNvPr id="16" name="Text 11"/>
          <p:cNvSpPr/>
          <p:nvPr/>
        </p:nvSpPr>
        <p:spPr>
          <a:xfrm>
            <a:off x="6629400" y="1691640"/>
            <a:ext cx="4647895" cy="365760"/>
          </a:xfrm>
          <a:prstGeom prst="rect">
            <a:avLst/>
          </a:prstGeom>
          <a:noFill/>
          <a:ln/>
        </p:spPr>
        <p:txBody>
          <a:bodyPr wrap="square" lIns="0" tIns="0" rIns="0" bIns="0" rtlCol="0" anchor="ctr"/>
          <a:lstStyle/>
          <a:p>
            <a:pPr indent="0" marL="0">
              <a:buNone/>
            </a:pPr>
            <a:r>
              <a:rPr lang="en-US" sz="1800" b="1" dirty="0">
                <a:solidFill>
                  <a:srgbClr val="002244"/>
                </a:solidFill>
                <a:latin typeface="Arial" pitchFamily="34" charset="0"/>
                <a:ea typeface="Arial" pitchFamily="34" charset="-122"/>
                <a:cs typeface="Arial" pitchFamily="34" charset="-120"/>
              </a:rPr>
              <a:t>Goal: three measurable targets</a:t>
            </a:r>
            <a:endParaRPr lang="en-US" sz="1800" dirty="0"/>
          </a:p>
        </p:txBody>
      </p:sp>
      <p:sp>
        <p:nvSpPr>
          <p:cNvPr id="17" name="Text 12"/>
          <p:cNvSpPr/>
          <p:nvPr/>
        </p:nvSpPr>
        <p:spPr>
          <a:xfrm>
            <a:off x="6629400" y="2057400"/>
            <a:ext cx="4647895" cy="320040"/>
          </a:xfrm>
          <a:prstGeom prst="rect">
            <a:avLst/>
          </a:prstGeom>
          <a:noFill/>
          <a:ln/>
        </p:spPr>
        <p:txBody>
          <a:bodyPr wrap="square" lIns="0" tIns="0" rIns="0" bIns="0" rtlCol="0" anchor="ctr"/>
          <a:lstStyle/>
          <a:p>
            <a:pPr indent="0" marL="0">
              <a:buNone/>
            </a:pPr>
            <a:r>
              <a:rPr lang="en-US" sz="1250" dirty="0">
                <a:solidFill>
                  <a:srgbClr val="555759"/>
                </a:solidFill>
                <a:latin typeface="Arial" pitchFamily="34" charset="0"/>
                <a:ea typeface="Arial" pitchFamily="34" charset="-122"/>
                <a:cs typeface="Arial" pitchFamily="34" charset="-120"/>
              </a:rPr>
              <a:t>Confirmed by the sponsor on October 21. Due December 4, 2026.</a:t>
            </a:r>
            <a:endParaRPr lang="en-US" sz="1250" dirty="0"/>
          </a:p>
        </p:txBody>
      </p:sp>
      <p:sp>
        <p:nvSpPr>
          <p:cNvPr id="18" name="Text 13"/>
          <p:cNvSpPr/>
          <p:nvPr/>
        </p:nvSpPr>
        <p:spPr>
          <a:xfrm>
            <a:off x="6629400" y="2606040"/>
            <a:ext cx="2103120" cy="868680"/>
          </a:xfrm>
          <a:prstGeom prst="rect">
            <a:avLst/>
          </a:prstGeom>
          <a:noFill/>
          <a:ln/>
        </p:spPr>
        <p:txBody>
          <a:bodyPr wrap="square" lIns="0" tIns="0" rIns="0" bIns="0" rtlCol="0" anchor="ctr"/>
          <a:lstStyle/>
          <a:p>
            <a:pPr indent="0" marL="0">
              <a:buNone/>
            </a:pPr>
            <a:r>
              <a:rPr lang="en-US" sz="3600" b="1" dirty="0">
                <a:solidFill>
                  <a:srgbClr val="255799"/>
                </a:solidFill>
                <a:latin typeface="Arial" pitchFamily="34" charset="0"/>
                <a:ea typeface="Arial" pitchFamily="34" charset="-122"/>
                <a:cs typeface="Arial" pitchFamily="34" charset="-120"/>
              </a:rPr>
              <a:t>18 / 20</a:t>
            </a:r>
            <a:endParaRPr lang="en-US" sz="3600" dirty="0"/>
          </a:p>
        </p:txBody>
      </p:sp>
      <p:sp>
        <p:nvSpPr>
          <p:cNvPr id="19" name="Text 14"/>
          <p:cNvSpPr/>
          <p:nvPr/>
        </p:nvSpPr>
        <p:spPr>
          <a:xfrm>
            <a:off x="8823960" y="2606040"/>
            <a:ext cx="2453335" cy="868680"/>
          </a:xfrm>
          <a:prstGeom prst="rect">
            <a:avLst/>
          </a:prstGeom>
          <a:noFill/>
          <a:ln/>
        </p:spPr>
        <p:txBody>
          <a:bodyPr wrap="square" lIns="0" tIns="0" rIns="0" bIns="0" rtlCol="0" anchor="ctr"/>
          <a:lstStyle/>
          <a:p>
            <a:pPr indent="0" marL="0">
              <a:buNone/>
            </a:pPr>
            <a:r>
              <a:rPr lang="en-US" sz="1500" dirty="0">
                <a:solidFill>
                  <a:srgbClr val="002244"/>
                </a:solidFill>
                <a:latin typeface="Arial" pitchFamily="34" charset="0"/>
                <a:ea typeface="Arial" pitchFamily="34" charset="-122"/>
                <a:cs typeface="Arial" pitchFamily="34" charset="-120"/>
              </a:rPr>
              <a:t>sponsor-style reporting questions answered correctly</a:t>
            </a:r>
            <a:endParaRPr lang="en-US" sz="1500" dirty="0"/>
          </a:p>
        </p:txBody>
      </p:sp>
      <p:sp>
        <p:nvSpPr>
          <p:cNvPr id="20" name="Text 15"/>
          <p:cNvSpPr/>
          <p:nvPr/>
        </p:nvSpPr>
        <p:spPr>
          <a:xfrm>
            <a:off x="6629400" y="3749040"/>
            <a:ext cx="2103120" cy="868680"/>
          </a:xfrm>
          <a:prstGeom prst="rect">
            <a:avLst/>
          </a:prstGeom>
          <a:noFill/>
          <a:ln/>
        </p:spPr>
        <p:txBody>
          <a:bodyPr wrap="square" lIns="0" tIns="0" rIns="0" bIns="0" rtlCol="0" anchor="ctr"/>
          <a:lstStyle/>
          <a:p>
            <a:pPr indent="0" marL="0">
              <a:buNone/>
            </a:pPr>
            <a:r>
              <a:rPr lang="en-US" sz="3600" b="1" dirty="0">
                <a:solidFill>
                  <a:srgbClr val="255799"/>
                </a:solidFill>
                <a:latin typeface="Arial" pitchFamily="34" charset="0"/>
                <a:ea typeface="Arial" pitchFamily="34" charset="-122"/>
                <a:cs typeface="Arial" pitchFamily="34" charset="-120"/>
              </a:rPr>
              <a:t>293 · 79</a:t>
            </a:r>
            <a:endParaRPr lang="en-US" sz="3600" dirty="0"/>
          </a:p>
        </p:txBody>
      </p:sp>
      <p:sp>
        <p:nvSpPr>
          <p:cNvPr id="21" name="Text 16"/>
          <p:cNvSpPr/>
          <p:nvPr/>
        </p:nvSpPr>
        <p:spPr>
          <a:xfrm>
            <a:off x="8823960" y="3749040"/>
            <a:ext cx="2453335" cy="868680"/>
          </a:xfrm>
          <a:prstGeom prst="rect">
            <a:avLst/>
          </a:prstGeom>
          <a:noFill/>
          <a:ln/>
        </p:spPr>
        <p:txBody>
          <a:bodyPr wrap="square" lIns="0" tIns="0" rIns="0" bIns="0" rtlCol="0" anchor="ctr"/>
          <a:lstStyle/>
          <a:p>
            <a:pPr indent="0" marL="0">
              <a:buNone/>
            </a:pPr>
            <a:r>
              <a:rPr lang="en-US" sz="1500" dirty="0">
                <a:solidFill>
                  <a:srgbClr val="002244"/>
                </a:solidFill>
                <a:latin typeface="Arial" pitchFamily="34" charset="0"/>
                <a:ea typeface="Arial" pitchFamily="34" charset="-122"/>
                <a:cs typeface="Arial" pitchFamily="34" charset="-120"/>
              </a:rPr>
              <a:t>rows and unique NetIDs match the sponsor's compiled sheet, with no duplicates</a:t>
            </a:r>
            <a:endParaRPr lang="en-US" sz="1500" dirty="0"/>
          </a:p>
        </p:txBody>
      </p:sp>
      <p:sp>
        <p:nvSpPr>
          <p:cNvPr id="22" name="Text 17"/>
          <p:cNvSpPr/>
          <p:nvPr/>
        </p:nvSpPr>
        <p:spPr>
          <a:xfrm>
            <a:off x="6629400" y="4892040"/>
            <a:ext cx="2103120" cy="868680"/>
          </a:xfrm>
          <a:prstGeom prst="rect">
            <a:avLst/>
          </a:prstGeom>
          <a:noFill/>
          <a:ln/>
        </p:spPr>
        <p:txBody>
          <a:bodyPr wrap="square" lIns="0" tIns="0" rIns="0" bIns="0" rtlCol="0" anchor="ctr"/>
          <a:lstStyle/>
          <a:p>
            <a:pPr indent="0" marL="0">
              <a:buNone/>
            </a:pPr>
            <a:r>
              <a:rPr lang="en-US" sz="3600" b="1" dirty="0">
                <a:solidFill>
                  <a:srgbClr val="255799"/>
                </a:solidFill>
                <a:latin typeface="Arial" pitchFamily="34" charset="0"/>
                <a:ea typeface="Arial" pitchFamily="34" charset="-122"/>
                <a:cs typeface="Arial" pitchFamily="34" charset="-120"/>
              </a:rPr>
              <a:t>&lt; 1 min</a:t>
            </a:r>
            <a:endParaRPr lang="en-US" sz="3600" dirty="0"/>
          </a:p>
        </p:txBody>
      </p:sp>
      <p:sp>
        <p:nvSpPr>
          <p:cNvPr id="23" name="Text 18"/>
          <p:cNvSpPr/>
          <p:nvPr/>
        </p:nvSpPr>
        <p:spPr>
          <a:xfrm>
            <a:off x="8823960" y="4892040"/>
            <a:ext cx="2453335" cy="868680"/>
          </a:xfrm>
          <a:prstGeom prst="rect">
            <a:avLst/>
          </a:prstGeom>
          <a:noFill/>
          <a:ln/>
        </p:spPr>
        <p:txBody>
          <a:bodyPr wrap="square" lIns="0" tIns="0" rIns="0" bIns="0" rtlCol="0" anchor="ctr"/>
          <a:lstStyle/>
          <a:p>
            <a:pPr indent="0" marL="0">
              <a:buNone/>
            </a:pPr>
            <a:r>
              <a:rPr lang="en-US" sz="1500" dirty="0">
                <a:solidFill>
                  <a:srgbClr val="002244"/>
                </a:solidFill>
                <a:latin typeface="Arial" pitchFamily="34" charset="0"/>
                <a:ea typeface="Arial" pitchFamily="34" charset="-122"/>
                <a:cs typeface="Arial" pitchFamily="34" charset="-120"/>
              </a:rPr>
              <a:t>from question to downloaded Excel file</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8229600" cy="274320"/>
          </a:xfrm>
          <a:prstGeom prst="rect">
            <a:avLst/>
          </a:prstGeom>
          <a:noFill/>
          <a:ln/>
        </p:spPr>
        <p:txBody>
          <a:bodyPr wrap="square" lIns="0" tIns="0" rIns="0" bIns="0" rtlCol="0" anchor="ctr"/>
          <a:lstStyle/>
          <a:p>
            <a:pPr indent="0" marL="0">
              <a:buNone/>
            </a:pPr>
            <a:r>
              <a:rPr lang="en-US" sz="1200" b="1" spc="200" kern="0" dirty="0">
                <a:solidFill>
                  <a:srgbClr val="255799"/>
                </a:solidFill>
                <a:latin typeface="Arial" pitchFamily="34" charset="0"/>
                <a:ea typeface="Arial" pitchFamily="34" charset="-122"/>
                <a:cs typeface="Arial" pitchFamily="34" charset="-120"/>
              </a:rPr>
              <a:t>SYSTEM OVERVIEW &amp; DESIGN</a:t>
            </a:r>
            <a:endParaRPr lang="en-US" sz="1200" dirty="0"/>
          </a:p>
        </p:txBody>
      </p:sp>
      <p:sp>
        <p:nvSpPr>
          <p:cNvPr id="3" name="Text 1"/>
          <p:cNvSpPr/>
          <p:nvPr/>
        </p:nvSpPr>
        <p:spPr>
          <a:xfrm>
            <a:off x="548640" y="621792"/>
            <a:ext cx="11094415" cy="640080"/>
          </a:xfrm>
          <a:prstGeom prst="rect">
            <a:avLst/>
          </a:prstGeom>
          <a:noFill/>
          <a:ln/>
        </p:spPr>
        <p:txBody>
          <a:bodyPr wrap="square" lIns="0" tIns="0" rIns="0" bIns="0" rtlCol="0" anchor="ctr"/>
          <a:lstStyle/>
          <a:p>
            <a:pPr indent="0" marL="0">
              <a:buNone/>
            </a:pPr>
            <a:r>
              <a:rPr lang="en-US" sz="3000" b="1" dirty="0">
                <a:solidFill>
                  <a:srgbClr val="1B3D6D"/>
                </a:solidFill>
                <a:latin typeface="Arial" pitchFamily="34" charset="0"/>
                <a:ea typeface="Arial" pitchFamily="34" charset="-122"/>
                <a:cs typeface="Arial" pitchFamily="34" charset="-120"/>
              </a:rPr>
              <a:t>The AI writes the SQL; the database computes the answer</a:t>
            </a:r>
            <a:endParaRPr lang="en-US" sz="3000" dirty="0"/>
          </a:p>
        </p:txBody>
      </p:sp>
      <p:sp>
        <p:nvSpPr>
          <p:cNvPr id="4" name="Text 2"/>
          <p:cNvSpPr/>
          <p:nvPr/>
        </p:nvSpPr>
        <p:spPr>
          <a:xfrm>
            <a:off x="11185855" y="6400800"/>
            <a:ext cx="457200" cy="274320"/>
          </a:xfrm>
          <a:prstGeom prst="rect">
            <a:avLst/>
          </a:prstGeom>
          <a:noFill/>
          <a:ln/>
        </p:spPr>
        <p:txBody>
          <a:bodyPr wrap="square" lIns="0" tIns="0" rIns="0" bIns="0" rtlCol="0" anchor="ctr"/>
          <a:lstStyle/>
          <a:p>
            <a:pPr algn="r" indent="0" marL="0">
              <a:buNone/>
            </a:pPr>
            <a:r>
              <a:rPr lang="en-US" sz="1000" dirty="0">
                <a:solidFill>
                  <a:srgbClr val="7B8FAE"/>
                </a:solidFill>
                <a:latin typeface="Arial" pitchFamily="34" charset="0"/>
                <a:ea typeface="Arial" pitchFamily="34" charset="-122"/>
                <a:cs typeface="Arial" pitchFamily="34" charset="-120"/>
              </a:rPr>
              <a:t>3</a:t>
            </a:r>
            <a:endParaRPr lang="en-US" sz="1000" dirty="0"/>
          </a:p>
        </p:txBody>
      </p:sp>
      <p:sp>
        <p:nvSpPr>
          <p:cNvPr id="5" name="Shape 3"/>
          <p:cNvSpPr/>
          <p:nvPr/>
        </p:nvSpPr>
        <p:spPr>
          <a:xfrm>
            <a:off x="2103120" y="1463040"/>
            <a:ext cx="9539935" cy="1783080"/>
          </a:xfrm>
          <a:prstGeom prst="roundRect">
            <a:avLst>
              <a:gd name="adj" fmla="val 4103"/>
            </a:avLst>
          </a:prstGeom>
          <a:solidFill>
            <a:srgbClr val="F3F6FA"/>
          </a:solidFill>
          <a:ln w="12700">
            <a:solidFill>
              <a:srgbClr val="7B8FAE"/>
            </a:solidFill>
            <a:prstDash val="dash"/>
          </a:ln>
        </p:spPr>
      </p:sp>
      <p:sp>
        <p:nvSpPr>
          <p:cNvPr id="6" name="Text 4"/>
          <p:cNvSpPr/>
          <p:nvPr/>
        </p:nvSpPr>
        <p:spPr>
          <a:xfrm>
            <a:off x="2286000" y="1536192"/>
            <a:ext cx="4572000" cy="274320"/>
          </a:xfrm>
          <a:prstGeom prst="rect">
            <a:avLst/>
          </a:prstGeom>
          <a:noFill/>
          <a:ln/>
        </p:spPr>
        <p:txBody>
          <a:bodyPr wrap="square" lIns="0" tIns="0" rIns="0" bIns="0" rtlCol="0" anchor="ctr"/>
          <a:lstStyle/>
          <a:p>
            <a:pPr indent="0" marL="0">
              <a:buNone/>
            </a:pPr>
            <a:r>
              <a:rPr lang="en-US" sz="1100" dirty="0">
                <a:solidFill>
                  <a:srgbClr val="555759"/>
                </a:solidFill>
                <a:latin typeface="Arial" pitchFamily="34" charset="0"/>
                <a:ea typeface="Arial" pitchFamily="34" charset="-122"/>
                <a:cs typeface="Arial" pitchFamily="34" charset="-120"/>
              </a:rPr>
              <a:t>One GPSRC computer  ·  Docker Compose</a:t>
            </a:r>
            <a:endParaRPr lang="en-US" sz="1100" dirty="0"/>
          </a:p>
        </p:txBody>
      </p:sp>
      <p:sp>
        <p:nvSpPr>
          <p:cNvPr id="7" name="Shape 5"/>
          <p:cNvSpPr/>
          <p:nvPr/>
        </p:nvSpPr>
        <p:spPr>
          <a:xfrm>
            <a:off x="731520" y="1828800"/>
            <a:ext cx="777240" cy="777240"/>
          </a:xfrm>
          <a:prstGeom prst="ellipse">
            <a:avLst/>
          </a:prstGeom>
          <a:solidFill>
            <a:srgbClr val="1B3D6D"/>
          </a:solidFill>
          <a:ln w="12700">
            <a:solidFill>
              <a:srgbClr val="1B3D6D"/>
            </a:solidFill>
            <a:prstDash val="solid"/>
          </a:ln>
        </p:spPr>
      </p:sp>
      <p:pic>
        <p:nvPicPr>
          <p:cNvPr id="8" name="Image 0" descr="preencoded.png">    </p:cNvPr>
          <p:cNvPicPr>
            <a:picLocks noChangeAspect="1"/>
          </p:cNvPicPr>
          <p:nvPr/>
        </p:nvPicPr>
        <p:blipFill>
          <a:blip r:embed="rId1"/>
          <a:stretch>
            <a:fillRect/>
          </a:stretch>
        </p:blipFill>
        <p:spPr>
          <a:xfrm>
            <a:off x="902513" y="1999793"/>
            <a:ext cx="435254" cy="435254"/>
          </a:xfrm>
          <a:prstGeom prst="rect">
            <a:avLst/>
          </a:prstGeom>
        </p:spPr>
      </p:pic>
      <p:sp>
        <p:nvSpPr>
          <p:cNvPr id="9" name="Text 6"/>
          <p:cNvSpPr/>
          <p:nvPr/>
        </p:nvSpPr>
        <p:spPr>
          <a:xfrm>
            <a:off x="457200" y="2651760"/>
            <a:ext cx="1325880" cy="274320"/>
          </a:xfrm>
          <a:prstGeom prst="rect">
            <a:avLst/>
          </a:prstGeom>
          <a:noFill/>
          <a:ln/>
        </p:spPr>
        <p:txBody>
          <a:bodyPr wrap="square" lIns="0" tIns="0" rIns="0" bIns="0" rtlCol="0" anchor="ctr"/>
          <a:lstStyle/>
          <a:p>
            <a:pPr algn="ctr" indent="0" marL="0">
              <a:buNone/>
            </a:pPr>
            <a:r>
              <a:rPr lang="en-US" sz="1200" b="1" dirty="0">
                <a:solidFill>
                  <a:srgbClr val="002244"/>
                </a:solidFill>
                <a:latin typeface="Arial" pitchFamily="34" charset="0"/>
                <a:ea typeface="Arial" pitchFamily="34" charset="-122"/>
                <a:cs typeface="Arial" pitchFamily="34" charset="-120"/>
              </a:rPr>
              <a:t>GPSRC staff</a:t>
            </a:r>
            <a:endParaRPr lang="en-US" sz="1200" dirty="0"/>
          </a:p>
        </p:txBody>
      </p:sp>
      <p:sp>
        <p:nvSpPr>
          <p:cNvPr id="10" name="Shape 7"/>
          <p:cNvSpPr/>
          <p:nvPr/>
        </p:nvSpPr>
        <p:spPr>
          <a:xfrm>
            <a:off x="2331720" y="1874520"/>
            <a:ext cx="2057400" cy="1097280"/>
          </a:xfrm>
          <a:prstGeom prst="roundRect">
            <a:avLst>
              <a:gd name="adj" fmla="val 6667"/>
            </a:avLst>
          </a:prstGeom>
          <a:solidFill>
            <a:srgbClr val="255799"/>
          </a:solidFill>
          <a:ln w="12700">
            <a:solidFill>
              <a:srgbClr val="255799"/>
            </a:solidFill>
            <a:prstDash val="solid"/>
          </a:ln>
        </p:spPr>
      </p:sp>
      <p:sp>
        <p:nvSpPr>
          <p:cNvPr id="11" name="Text 8"/>
          <p:cNvSpPr/>
          <p:nvPr/>
        </p:nvSpPr>
        <p:spPr>
          <a:xfrm>
            <a:off x="2331720" y="1874520"/>
            <a:ext cx="2057400" cy="1097280"/>
          </a:xfrm>
          <a:prstGeom prst="rect">
            <a:avLst/>
          </a:prstGeom>
          <a:noFill/>
          <a:ln/>
        </p:spPr>
        <p:txBody>
          <a:bodyPr wrap="square" lIns="1016" tIns="1016" rIns="1016" bIns="1016"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Web client</a:t>
            </a:r>
            <a:endParaRPr lang="en-US" sz="1500" dirty="0"/>
          </a:p>
          <a:p>
            <a:pPr algn="ctr" indent="0" marL="0">
              <a:buNone/>
            </a:pPr>
            <a:r>
              <a:rPr lang="en-US" sz="1150" dirty="0">
                <a:solidFill>
                  <a:srgbClr val="DCE5F1"/>
                </a:solidFill>
                <a:latin typeface="Arial" pitchFamily="34" charset="0"/>
                <a:ea typeface="Arial" pitchFamily="34" charset="-122"/>
                <a:cs typeface="Arial" pitchFamily="34" charset="-120"/>
              </a:rPr>
              <a:t>React 19 · MUI</a:t>
            </a:r>
            <a:endParaRPr lang="en-US" sz="1500" dirty="0"/>
          </a:p>
        </p:txBody>
      </p:sp>
      <p:sp>
        <p:nvSpPr>
          <p:cNvPr id="12" name="Shape 9"/>
          <p:cNvSpPr/>
          <p:nvPr/>
        </p:nvSpPr>
        <p:spPr>
          <a:xfrm>
            <a:off x="4727448" y="1874520"/>
            <a:ext cx="2057400" cy="1097280"/>
          </a:xfrm>
          <a:prstGeom prst="roundRect">
            <a:avLst>
              <a:gd name="adj" fmla="val 6667"/>
            </a:avLst>
          </a:prstGeom>
          <a:solidFill>
            <a:srgbClr val="255799"/>
          </a:solidFill>
          <a:ln w="12700">
            <a:solidFill>
              <a:srgbClr val="255799"/>
            </a:solidFill>
            <a:prstDash val="solid"/>
          </a:ln>
        </p:spPr>
      </p:sp>
      <p:sp>
        <p:nvSpPr>
          <p:cNvPr id="13" name="Text 10"/>
          <p:cNvSpPr/>
          <p:nvPr/>
        </p:nvSpPr>
        <p:spPr>
          <a:xfrm>
            <a:off x="4727448" y="1874520"/>
            <a:ext cx="2057400" cy="1097280"/>
          </a:xfrm>
          <a:prstGeom prst="rect">
            <a:avLst/>
          </a:prstGeom>
          <a:noFill/>
          <a:ln/>
        </p:spPr>
        <p:txBody>
          <a:bodyPr wrap="square" lIns="1016" tIns="1016" rIns="1016" bIns="1016"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Web server</a:t>
            </a:r>
            <a:endParaRPr lang="en-US" sz="1500" dirty="0"/>
          </a:p>
          <a:p>
            <a:pPr algn="ctr" indent="0" marL="0">
              <a:buNone/>
            </a:pPr>
            <a:r>
              <a:rPr lang="en-US" sz="1150" dirty="0">
                <a:solidFill>
                  <a:srgbClr val="DCE5F1"/>
                </a:solidFill>
                <a:latin typeface="Arial" pitchFamily="34" charset="0"/>
                <a:ea typeface="Arial" pitchFamily="34" charset="-122"/>
                <a:cs typeface="Arial" pitchFamily="34" charset="-120"/>
              </a:rPr>
              <a:t>Nginx · 127.0.0.1 only</a:t>
            </a:r>
            <a:endParaRPr lang="en-US" sz="1500" dirty="0"/>
          </a:p>
        </p:txBody>
      </p:sp>
      <p:sp>
        <p:nvSpPr>
          <p:cNvPr id="14" name="Shape 11"/>
          <p:cNvSpPr/>
          <p:nvPr/>
        </p:nvSpPr>
        <p:spPr>
          <a:xfrm>
            <a:off x="7123176" y="1874520"/>
            <a:ext cx="2057400" cy="1097280"/>
          </a:xfrm>
          <a:prstGeom prst="roundRect">
            <a:avLst>
              <a:gd name="adj" fmla="val 6667"/>
            </a:avLst>
          </a:prstGeom>
          <a:solidFill>
            <a:srgbClr val="255799"/>
          </a:solidFill>
          <a:ln w="12700">
            <a:solidFill>
              <a:srgbClr val="255799"/>
            </a:solidFill>
            <a:prstDash val="solid"/>
          </a:ln>
        </p:spPr>
      </p:sp>
      <p:sp>
        <p:nvSpPr>
          <p:cNvPr id="15" name="Text 12"/>
          <p:cNvSpPr/>
          <p:nvPr/>
        </p:nvSpPr>
        <p:spPr>
          <a:xfrm>
            <a:off x="7123176" y="1874520"/>
            <a:ext cx="2057400" cy="1097280"/>
          </a:xfrm>
          <a:prstGeom prst="rect">
            <a:avLst/>
          </a:prstGeom>
          <a:noFill/>
          <a:ln/>
        </p:spPr>
        <p:txBody>
          <a:bodyPr wrap="square" lIns="1016" tIns="1016" rIns="1016" bIns="1016"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API</a:t>
            </a:r>
            <a:endParaRPr lang="en-US" sz="1500" dirty="0"/>
          </a:p>
          <a:p>
            <a:pPr algn="ctr" indent="0" marL="0">
              <a:buNone/>
            </a:pPr>
            <a:r>
              <a:rPr lang="en-US" sz="1150" dirty="0">
                <a:solidFill>
                  <a:srgbClr val="DCE5F1"/>
                </a:solidFill>
                <a:latin typeface="Arial" pitchFamily="34" charset="0"/>
                <a:ea typeface="Arial" pitchFamily="34" charset="-122"/>
                <a:cs typeface="Arial" pitchFamily="34" charset="-120"/>
              </a:rPr>
              <a:t>FastAPI · LangGraph</a:t>
            </a:r>
            <a:endParaRPr lang="en-US" sz="1500" dirty="0"/>
          </a:p>
        </p:txBody>
      </p:sp>
      <p:sp>
        <p:nvSpPr>
          <p:cNvPr id="16" name="Shape 13"/>
          <p:cNvSpPr/>
          <p:nvPr/>
        </p:nvSpPr>
        <p:spPr>
          <a:xfrm>
            <a:off x="9518904" y="1874520"/>
            <a:ext cx="2057400" cy="1097280"/>
          </a:xfrm>
          <a:prstGeom prst="roundRect">
            <a:avLst>
              <a:gd name="adj" fmla="val 6667"/>
            </a:avLst>
          </a:prstGeom>
          <a:solidFill>
            <a:srgbClr val="255799"/>
          </a:solidFill>
          <a:ln w="12700">
            <a:solidFill>
              <a:srgbClr val="255799"/>
            </a:solidFill>
            <a:prstDash val="solid"/>
          </a:ln>
        </p:spPr>
      </p:sp>
      <p:sp>
        <p:nvSpPr>
          <p:cNvPr id="17" name="Text 14"/>
          <p:cNvSpPr/>
          <p:nvPr/>
        </p:nvSpPr>
        <p:spPr>
          <a:xfrm>
            <a:off x="9518904" y="1874520"/>
            <a:ext cx="2057400" cy="1097280"/>
          </a:xfrm>
          <a:prstGeom prst="rect">
            <a:avLst/>
          </a:prstGeom>
          <a:noFill/>
          <a:ln/>
        </p:spPr>
        <p:txBody>
          <a:bodyPr wrap="square" lIns="1016" tIns="1016" rIns="1016" bIns="1016"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Database</a:t>
            </a:r>
            <a:endParaRPr lang="en-US" sz="1500" dirty="0"/>
          </a:p>
          <a:p>
            <a:pPr algn="ctr" indent="0" marL="0">
              <a:buNone/>
            </a:pPr>
            <a:r>
              <a:rPr lang="en-US" sz="1150" dirty="0">
                <a:solidFill>
                  <a:srgbClr val="DCE5F1"/>
                </a:solidFill>
                <a:latin typeface="Arial" pitchFamily="34" charset="0"/>
                <a:ea typeface="Arial" pitchFamily="34" charset="-122"/>
                <a:cs typeface="Arial" pitchFamily="34" charset="-120"/>
              </a:rPr>
              <a:t>PostgreSQL 16 · read-only chatbot role</a:t>
            </a:r>
            <a:endParaRPr lang="en-US" sz="1500" dirty="0"/>
          </a:p>
        </p:txBody>
      </p:sp>
      <p:sp>
        <p:nvSpPr>
          <p:cNvPr id="18" name="Shape 15"/>
          <p:cNvSpPr/>
          <p:nvPr/>
        </p:nvSpPr>
        <p:spPr>
          <a:xfrm>
            <a:off x="1554480" y="2423160"/>
            <a:ext cx="777240" cy="0"/>
          </a:xfrm>
          <a:prstGeom prst="line">
            <a:avLst/>
          </a:prstGeom>
          <a:noFill/>
          <a:ln w="22225">
            <a:solidFill>
              <a:srgbClr val="7B8FAE"/>
            </a:solidFill>
            <a:prstDash val="solid"/>
            <a:tailEnd type="triangle"/>
          </a:ln>
        </p:spPr>
      </p:sp>
      <p:sp>
        <p:nvSpPr>
          <p:cNvPr id="19" name="Shape 16"/>
          <p:cNvSpPr/>
          <p:nvPr/>
        </p:nvSpPr>
        <p:spPr>
          <a:xfrm>
            <a:off x="4389120" y="2423160"/>
            <a:ext cx="338328" cy="0"/>
          </a:xfrm>
          <a:prstGeom prst="line">
            <a:avLst/>
          </a:prstGeom>
          <a:noFill/>
          <a:ln w="22225">
            <a:solidFill>
              <a:srgbClr val="7B8FAE"/>
            </a:solidFill>
            <a:prstDash val="solid"/>
            <a:tailEnd type="triangle"/>
          </a:ln>
        </p:spPr>
      </p:sp>
      <p:sp>
        <p:nvSpPr>
          <p:cNvPr id="20" name="Shape 17"/>
          <p:cNvSpPr/>
          <p:nvPr/>
        </p:nvSpPr>
        <p:spPr>
          <a:xfrm>
            <a:off x="6784848" y="2423160"/>
            <a:ext cx="338328" cy="0"/>
          </a:xfrm>
          <a:prstGeom prst="line">
            <a:avLst/>
          </a:prstGeom>
          <a:noFill/>
          <a:ln w="22225">
            <a:solidFill>
              <a:srgbClr val="7B8FAE"/>
            </a:solidFill>
            <a:prstDash val="solid"/>
            <a:tailEnd type="triangle"/>
          </a:ln>
        </p:spPr>
      </p:sp>
      <p:sp>
        <p:nvSpPr>
          <p:cNvPr id="21" name="Shape 18"/>
          <p:cNvSpPr/>
          <p:nvPr/>
        </p:nvSpPr>
        <p:spPr>
          <a:xfrm>
            <a:off x="9180576" y="2423160"/>
            <a:ext cx="338328" cy="0"/>
          </a:xfrm>
          <a:prstGeom prst="line">
            <a:avLst/>
          </a:prstGeom>
          <a:noFill/>
          <a:ln w="22225">
            <a:solidFill>
              <a:srgbClr val="7B8FAE"/>
            </a:solidFill>
            <a:prstDash val="solid"/>
            <a:tailEnd type="triangle"/>
          </a:ln>
        </p:spPr>
      </p:sp>
      <p:sp>
        <p:nvSpPr>
          <p:cNvPr id="22" name="Shape 19"/>
          <p:cNvSpPr/>
          <p:nvPr/>
        </p:nvSpPr>
        <p:spPr>
          <a:xfrm>
            <a:off x="7123176" y="3611880"/>
            <a:ext cx="2057400" cy="868680"/>
          </a:xfrm>
          <a:prstGeom prst="roundRect">
            <a:avLst>
              <a:gd name="adj" fmla="val 8421"/>
            </a:avLst>
          </a:prstGeom>
          <a:solidFill>
            <a:srgbClr val="7B8FAE"/>
          </a:solidFill>
          <a:ln w="12700">
            <a:solidFill>
              <a:srgbClr val="7B8FAE"/>
            </a:solidFill>
            <a:prstDash val="solid"/>
          </a:ln>
        </p:spPr>
      </p:sp>
      <p:sp>
        <p:nvSpPr>
          <p:cNvPr id="23" name="Text 20"/>
          <p:cNvSpPr/>
          <p:nvPr/>
        </p:nvSpPr>
        <p:spPr>
          <a:xfrm>
            <a:off x="7123176" y="3611880"/>
            <a:ext cx="2057400" cy="868680"/>
          </a:xfrm>
          <a:prstGeom prst="rect">
            <a:avLst/>
          </a:prstGeom>
          <a:noFill/>
          <a:ln/>
        </p:spPr>
        <p:txBody>
          <a:bodyPr wrap="square" lIns="1016" tIns="1016" rIns="1016" bIns="1016"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AI provider</a:t>
            </a:r>
            <a:endParaRPr lang="en-US" sz="1500" dirty="0"/>
          </a:p>
          <a:p>
            <a:pPr algn="ctr" indent="0" marL="0">
              <a:buNone/>
            </a:pPr>
            <a:r>
              <a:rPr lang="en-US" sz="1150" dirty="0">
                <a:solidFill>
                  <a:srgbClr val="FFFFFF"/>
                </a:solidFill>
                <a:latin typeface="Arial" pitchFamily="34" charset="0"/>
                <a:ea typeface="Arial" pitchFamily="34" charset="-122"/>
                <a:cs typeface="Arial" pitchFamily="34" charset="-120"/>
              </a:rPr>
              <a:t>ZotGPT · OpenAI · DeepSeek</a:t>
            </a:r>
            <a:endParaRPr lang="en-US" sz="1500" dirty="0"/>
          </a:p>
        </p:txBody>
      </p:sp>
      <p:sp>
        <p:nvSpPr>
          <p:cNvPr id="24" name="Shape 21"/>
          <p:cNvSpPr/>
          <p:nvPr/>
        </p:nvSpPr>
        <p:spPr>
          <a:xfrm>
            <a:off x="8151876" y="2971800"/>
            <a:ext cx="0" cy="640080"/>
          </a:xfrm>
          <a:prstGeom prst="line">
            <a:avLst/>
          </a:prstGeom>
          <a:noFill/>
          <a:ln w="22225">
            <a:solidFill>
              <a:srgbClr val="7B8FAE"/>
            </a:solidFill>
            <a:prstDash val="solid"/>
            <a:tailEnd type="triangle"/>
          </a:ln>
        </p:spPr>
      </p:sp>
      <p:sp>
        <p:nvSpPr>
          <p:cNvPr id="25" name="Text 22"/>
          <p:cNvSpPr/>
          <p:nvPr/>
        </p:nvSpPr>
        <p:spPr>
          <a:xfrm>
            <a:off x="9518904" y="3611880"/>
            <a:ext cx="2286000" cy="868680"/>
          </a:xfrm>
          <a:prstGeom prst="rect">
            <a:avLst/>
          </a:prstGeom>
          <a:noFill/>
          <a:ln/>
        </p:spPr>
        <p:txBody>
          <a:bodyPr wrap="square" lIns="0" tIns="0" rIns="0" bIns="0" rtlCol="0" anchor="ctr"/>
          <a:lstStyle/>
          <a:p>
            <a:pPr indent="0" marL="0">
              <a:buNone/>
            </a:pPr>
            <a:r>
              <a:rPr lang="en-US" sz="1200" i="1" dirty="0">
                <a:solidFill>
                  <a:srgbClr val="555759"/>
                </a:solidFill>
                <a:latin typeface="Arial" pitchFamily="34" charset="0"/>
                <a:ea typeface="Arial" pitchFamily="34" charset="-122"/>
                <a:cs typeface="Arial" pitchFamily="34" charset="-120"/>
              </a:rPr>
              <a:t>Sends the schema and the question; gets SQL back. Never needs student rows.</a:t>
            </a:r>
            <a:endParaRPr lang="en-US" sz="1200" dirty="0"/>
          </a:p>
        </p:txBody>
      </p:sp>
      <p:sp>
        <p:nvSpPr>
          <p:cNvPr id="26" name="Text 23"/>
          <p:cNvSpPr/>
          <p:nvPr/>
        </p:nvSpPr>
        <p:spPr>
          <a:xfrm>
            <a:off x="2103120" y="3611880"/>
            <a:ext cx="4745736" cy="868680"/>
          </a:xfrm>
          <a:prstGeom prst="rect">
            <a:avLst/>
          </a:prstGeom>
          <a:noFill/>
          <a:ln/>
        </p:spPr>
        <p:txBody>
          <a:bodyPr wrap="square" lIns="0" tIns="0" rIns="0" bIns="0" rtlCol="0" anchor="ctr"/>
          <a:lstStyle/>
          <a:p>
            <a:pPr indent="0" marL="0">
              <a:buNone/>
            </a:pPr>
            <a:r>
              <a:rPr lang="en-US" sz="1200" i="1" dirty="0">
                <a:solidFill>
                  <a:srgbClr val="555759"/>
                </a:solidFill>
                <a:latin typeface="Arial" pitchFamily="34" charset="0"/>
                <a:ea typeface="Arial" pitchFamily="34" charset="-122"/>
                <a:cs typeface="Arial" pitchFamily="34" charset="-120"/>
              </a:rPr>
              <a:t>Upload: native exports, people linked by NetID then email. Export: any answer as Excel or CSV.</a:t>
            </a:r>
            <a:endParaRPr lang="en-US" sz="1200" dirty="0"/>
          </a:p>
        </p:txBody>
      </p:sp>
      <p:sp>
        <p:nvSpPr>
          <p:cNvPr id="27" name="Text 24"/>
          <p:cNvSpPr/>
          <p:nvPr/>
        </p:nvSpPr>
        <p:spPr>
          <a:xfrm>
            <a:off x="548640" y="4709160"/>
            <a:ext cx="3657600" cy="320040"/>
          </a:xfrm>
          <a:prstGeom prst="rect">
            <a:avLst/>
          </a:prstGeom>
          <a:noFill/>
          <a:ln/>
        </p:spPr>
        <p:txBody>
          <a:bodyPr wrap="square" lIns="0" tIns="0" rIns="0" bIns="0" rtlCol="0" anchor="ctr"/>
          <a:lstStyle/>
          <a:p>
            <a:pPr indent="0" marL="0">
              <a:buNone/>
            </a:pPr>
            <a:r>
              <a:rPr lang="en-US" sz="1500" b="1" dirty="0">
                <a:solidFill>
                  <a:srgbClr val="002244"/>
                </a:solidFill>
                <a:latin typeface="Arial" pitchFamily="34" charset="0"/>
                <a:ea typeface="Arial" pitchFamily="34" charset="-122"/>
                <a:cs typeface="Arial" pitchFamily="34" charset="-120"/>
              </a:rPr>
              <a:t>Every question</a:t>
            </a:r>
            <a:endParaRPr lang="en-US" sz="1500" dirty="0"/>
          </a:p>
        </p:txBody>
      </p:sp>
      <p:sp>
        <p:nvSpPr>
          <p:cNvPr id="28" name="Shape 25"/>
          <p:cNvSpPr/>
          <p:nvPr/>
        </p:nvSpPr>
        <p:spPr>
          <a:xfrm>
            <a:off x="548640" y="5120640"/>
            <a:ext cx="1965960" cy="777240"/>
          </a:xfrm>
          <a:prstGeom prst="roundRect">
            <a:avLst>
              <a:gd name="adj" fmla="val 9412"/>
            </a:avLst>
          </a:prstGeom>
          <a:solidFill>
            <a:srgbClr val="E4ECF6"/>
          </a:solidFill>
          <a:ln w="12700">
            <a:solidFill>
              <a:srgbClr val="E4ECF6"/>
            </a:solidFill>
            <a:prstDash val="solid"/>
          </a:ln>
        </p:spPr>
      </p:sp>
      <p:sp>
        <p:nvSpPr>
          <p:cNvPr id="29" name="Text 26"/>
          <p:cNvSpPr/>
          <p:nvPr/>
        </p:nvSpPr>
        <p:spPr>
          <a:xfrm>
            <a:off x="548640" y="5120640"/>
            <a:ext cx="1965960" cy="777240"/>
          </a:xfrm>
          <a:prstGeom prst="rect">
            <a:avLst/>
          </a:prstGeom>
          <a:noFill/>
          <a:ln/>
        </p:spPr>
        <p:txBody>
          <a:bodyPr wrap="square" lIns="1016" tIns="1016" rIns="1016" bIns="1016" rtlCol="0" anchor="ctr"/>
          <a:lstStyle/>
          <a:p>
            <a:pPr algn="ctr" indent="0" marL="0">
              <a:buNone/>
            </a:pPr>
            <a:r>
              <a:rPr lang="en-US" sz="1500" b="1" dirty="0">
                <a:solidFill>
                  <a:srgbClr val="002244"/>
                </a:solidFill>
                <a:latin typeface="Arial" pitchFamily="34" charset="0"/>
                <a:ea typeface="Arial" pitchFamily="34" charset="-122"/>
                <a:cs typeface="Arial" pitchFamily="34" charset="-120"/>
              </a:rPr>
              <a:t>Question</a:t>
            </a:r>
            <a:endParaRPr lang="en-US" sz="1500" dirty="0"/>
          </a:p>
          <a:p>
            <a:pPr algn="ctr" indent="0" marL="0">
              <a:buNone/>
            </a:pPr>
            <a:r>
              <a:rPr lang="en-US" sz="1100" dirty="0">
                <a:solidFill>
                  <a:srgbClr val="002244"/>
                </a:solidFill>
                <a:latin typeface="Arial" pitchFamily="34" charset="0"/>
                <a:ea typeface="Arial" pitchFamily="34" charset="-122"/>
                <a:cs typeface="Arial" pitchFamily="34" charset="-120"/>
              </a:rPr>
              <a:t>plain English, follow-ups</a:t>
            </a:r>
            <a:endParaRPr lang="en-US" sz="1500" dirty="0"/>
          </a:p>
        </p:txBody>
      </p:sp>
      <p:sp>
        <p:nvSpPr>
          <p:cNvPr id="30" name="Shape 27"/>
          <p:cNvSpPr/>
          <p:nvPr/>
        </p:nvSpPr>
        <p:spPr>
          <a:xfrm>
            <a:off x="2514600" y="5509260"/>
            <a:ext cx="316154" cy="0"/>
          </a:xfrm>
          <a:prstGeom prst="line">
            <a:avLst/>
          </a:prstGeom>
          <a:noFill/>
          <a:ln w="22225">
            <a:solidFill>
              <a:srgbClr val="7B8FAE"/>
            </a:solidFill>
            <a:prstDash val="solid"/>
            <a:tailEnd type="triangle"/>
          </a:ln>
        </p:spPr>
      </p:sp>
      <p:sp>
        <p:nvSpPr>
          <p:cNvPr id="31" name="Shape 28"/>
          <p:cNvSpPr/>
          <p:nvPr/>
        </p:nvSpPr>
        <p:spPr>
          <a:xfrm>
            <a:off x="2830754" y="5120640"/>
            <a:ext cx="1965960" cy="777240"/>
          </a:xfrm>
          <a:prstGeom prst="roundRect">
            <a:avLst>
              <a:gd name="adj" fmla="val 9412"/>
            </a:avLst>
          </a:prstGeom>
          <a:solidFill>
            <a:srgbClr val="E4ECF6"/>
          </a:solidFill>
          <a:ln w="12700">
            <a:solidFill>
              <a:srgbClr val="E4ECF6"/>
            </a:solidFill>
            <a:prstDash val="solid"/>
          </a:ln>
        </p:spPr>
      </p:sp>
      <p:sp>
        <p:nvSpPr>
          <p:cNvPr id="32" name="Text 29"/>
          <p:cNvSpPr/>
          <p:nvPr/>
        </p:nvSpPr>
        <p:spPr>
          <a:xfrm>
            <a:off x="2830754" y="5120640"/>
            <a:ext cx="1965960" cy="777240"/>
          </a:xfrm>
          <a:prstGeom prst="rect">
            <a:avLst/>
          </a:prstGeom>
          <a:noFill/>
          <a:ln/>
        </p:spPr>
        <p:txBody>
          <a:bodyPr wrap="square" lIns="1016" tIns="1016" rIns="1016" bIns="1016" rtlCol="0" anchor="ctr"/>
          <a:lstStyle/>
          <a:p>
            <a:pPr algn="ctr" indent="0" marL="0">
              <a:buNone/>
            </a:pPr>
            <a:r>
              <a:rPr lang="en-US" sz="1500" b="1" dirty="0">
                <a:solidFill>
                  <a:srgbClr val="002244"/>
                </a:solidFill>
                <a:latin typeface="Arial" pitchFamily="34" charset="0"/>
                <a:ea typeface="Arial" pitchFamily="34" charset="-122"/>
                <a:cs typeface="Arial" pitchFamily="34" charset="-120"/>
              </a:rPr>
              <a:t>Generate SQL</a:t>
            </a:r>
            <a:endParaRPr lang="en-US" sz="1500" dirty="0"/>
          </a:p>
          <a:p>
            <a:pPr algn="ctr" indent="0" marL="0">
              <a:buNone/>
            </a:pPr>
            <a:r>
              <a:rPr lang="en-US" sz="1100" dirty="0">
                <a:solidFill>
                  <a:srgbClr val="002244"/>
                </a:solidFill>
                <a:latin typeface="Arial" pitchFamily="34" charset="0"/>
                <a:ea typeface="Arial" pitchFamily="34" charset="-122"/>
                <a:cs typeface="Arial" pitchFamily="34" charset="-120"/>
              </a:rPr>
              <a:t>by the AI</a:t>
            </a:r>
            <a:endParaRPr lang="en-US" sz="1500" dirty="0"/>
          </a:p>
        </p:txBody>
      </p:sp>
      <p:sp>
        <p:nvSpPr>
          <p:cNvPr id="33" name="Shape 30"/>
          <p:cNvSpPr/>
          <p:nvPr/>
        </p:nvSpPr>
        <p:spPr>
          <a:xfrm>
            <a:off x="4796714" y="5509260"/>
            <a:ext cx="316154" cy="0"/>
          </a:xfrm>
          <a:prstGeom prst="line">
            <a:avLst/>
          </a:prstGeom>
          <a:noFill/>
          <a:ln w="22225">
            <a:solidFill>
              <a:srgbClr val="7B8FAE"/>
            </a:solidFill>
            <a:prstDash val="solid"/>
            <a:tailEnd type="triangle"/>
          </a:ln>
        </p:spPr>
      </p:sp>
      <p:sp>
        <p:nvSpPr>
          <p:cNvPr id="34" name="Shape 31"/>
          <p:cNvSpPr/>
          <p:nvPr/>
        </p:nvSpPr>
        <p:spPr>
          <a:xfrm>
            <a:off x="5112868" y="5120640"/>
            <a:ext cx="1965960" cy="777240"/>
          </a:xfrm>
          <a:prstGeom prst="roundRect">
            <a:avLst>
              <a:gd name="adj" fmla="val 9412"/>
            </a:avLst>
          </a:prstGeom>
          <a:solidFill>
            <a:srgbClr val="FECC07"/>
          </a:solidFill>
          <a:ln w="12700">
            <a:solidFill>
              <a:srgbClr val="FECC07"/>
            </a:solidFill>
            <a:prstDash val="solid"/>
          </a:ln>
        </p:spPr>
      </p:sp>
      <p:sp>
        <p:nvSpPr>
          <p:cNvPr id="35" name="Text 32"/>
          <p:cNvSpPr/>
          <p:nvPr/>
        </p:nvSpPr>
        <p:spPr>
          <a:xfrm>
            <a:off x="5112868" y="5120640"/>
            <a:ext cx="1965960" cy="777240"/>
          </a:xfrm>
          <a:prstGeom prst="rect">
            <a:avLst/>
          </a:prstGeom>
          <a:noFill/>
          <a:ln/>
        </p:spPr>
        <p:txBody>
          <a:bodyPr wrap="square" lIns="1016" tIns="1016" rIns="1016" bIns="1016" rtlCol="0" anchor="ctr"/>
          <a:lstStyle/>
          <a:p>
            <a:pPr algn="ctr" indent="0" marL="0">
              <a:buNone/>
            </a:pPr>
            <a:r>
              <a:rPr lang="en-US" sz="1500" b="1" dirty="0">
                <a:solidFill>
                  <a:srgbClr val="002244"/>
                </a:solidFill>
                <a:latin typeface="Arial" pitchFamily="34" charset="0"/>
                <a:ea typeface="Arial" pitchFamily="34" charset="-122"/>
                <a:cs typeface="Arial" pitchFamily="34" charset="-120"/>
              </a:rPr>
              <a:t>Guard</a:t>
            </a:r>
            <a:endParaRPr lang="en-US" sz="1500" dirty="0"/>
          </a:p>
          <a:p>
            <a:pPr algn="ctr" indent="0" marL="0">
              <a:buNone/>
            </a:pPr>
            <a:r>
              <a:rPr lang="en-US" sz="1100" dirty="0">
                <a:solidFill>
                  <a:srgbClr val="002244"/>
                </a:solidFill>
                <a:latin typeface="Arial" pitchFamily="34" charset="0"/>
                <a:ea typeface="Arial" pitchFamily="34" charset="-122"/>
                <a:cs typeface="Arial" pitchFamily="34" charset="-120"/>
              </a:rPr>
              <a:t>sqlglot: one SELECT, one view</a:t>
            </a:r>
            <a:endParaRPr lang="en-US" sz="1500" dirty="0"/>
          </a:p>
        </p:txBody>
      </p:sp>
      <p:sp>
        <p:nvSpPr>
          <p:cNvPr id="36" name="Shape 33"/>
          <p:cNvSpPr/>
          <p:nvPr/>
        </p:nvSpPr>
        <p:spPr>
          <a:xfrm>
            <a:off x="7078828" y="5509260"/>
            <a:ext cx="316154" cy="0"/>
          </a:xfrm>
          <a:prstGeom prst="line">
            <a:avLst/>
          </a:prstGeom>
          <a:noFill/>
          <a:ln w="22225">
            <a:solidFill>
              <a:srgbClr val="7B8FAE"/>
            </a:solidFill>
            <a:prstDash val="solid"/>
            <a:tailEnd type="triangle"/>
          </a:ln>
        </p:spPr>
      </p:sp>
      <p:sp>
        <p:nvSpPr>
          <p:cNvPr id="37" name="Shape 34"/>
          <p:cNvSpPr/>
          <p:nvPr/>
        </p:nvSpPr>
        <p:spPr>
          <a:xfrm>
            <a:off x="7394981" y="5120640"/>
            <a:ext cx="1965960" cy="777240"/>
          </a:xfrm>
          <a:prstGeom prst="roundRect">
            <a:avLst>
              <a:gd name="adj" fmla="val 9412"/>
            </a:avLst>
          </a:prstGeom>
          <a:solidFill>
            <a:srgbClr val="FECC07"/>
          </a:solidFill>
          <a:ln w="12700">
            <a:solidFill>
              <a:srgbClr val="FECC07"/>
            </a:solidFill>
            <a:prstDash val="solid"/>
          </a:ln>
        </p:spPr>
      </p:sp>
      <p:sp>
        <p:nvSpPr>
          <p:cNvPr id="38" name="Text 35"/>
          <p:cNvSpPr/>
          <p:nvPr/>
        </p:nvSpPr>
        <p:spPr>
          <a:xfrm>
            <a:off x="7394981" y="5120640"/>
            <a:ext cx="1965960" cy="777240"/>
          </a:xfrm>
          <a:prstGeom prst="rect">
            <a:avLst/>
          </a:prstGeom>
          <a:noFill/>
          <a:ln/>
        </p:spPr>
        <p:txBody>
          <a:bodyPr wrap="square" lIns="1016" tIns="1016" rIns="1016" bIns="1016" rtlCol="0" anchor="ctr"/>
          <a:lstStyle/>
          <a:p>
            <a:pPr algn="ctr" indent="0" marL="0">
              <a:buNone/>
            </a:pPr>
            <a:r>
              <a:rPr lang="en-US" sz="1500" b="1" dirty="0">
                <a:solidFill>
                  <a:srgbClr val="002244"/>
                </a:solidFill>
                <a:latin typeface="Arial" pitchFamily="34" charset="0"/>
                <a:ea typeface="Arial" pitchFamily="34" charset="-122"/>
                <a:cs typeface="Arial" pitchFamily="34" charset="-120"/>
              </a:rPr>
              <a:t>Execute</a:t>
            </a:r>
            <a:endParaRPr lang="en-US" sz="1500" dirty="0"/>
          </a:p>
          <a:p>
            <a:pPr algn="ctr" indent="0" marL="0">
              <a:buNone/>
            </a:pPr>
            <a:r>
              <a:rPr lang="en-US" sz="1100" dirty="0">
                <a:solidFill>
                  <a:srgbClr val="002244"/>
                </a:solidFill>
                <a:latin typeface="Arial" pitchFamily="34" charset="0"/>
                <a:ea typeface="Arial" pitchFamily="34" charset="-122"/>
                <a:cs typeface="Arial" pitchFamily="34" charset="-120"/>
              </a:rPr>
              <a:t>read-only role, 5 s limit</a:t>
            </a:r>
            <a:endParaRPr lang="en-US" sz="1500" dirty="0"/>
          </a:p>
        </p:txBody>
      </p:sp>
      <p:sp>
        <p:nvSpPr>
          <p:cNvPr id="39" name="Shape 36"/>
          <p:cNvSpPr/>
          <p:nvPr/>
        </p:nvSpPr>
        <p:spPr>
          <a:xfrm>
            <a:off x="9360941" y="5509260"/>
            <a:ext cx="316154" cy="0"/>
          </a:xfrm>
          <a:prstGeom prst="line">
            <a:avLst/>
          </a:prstGeom>
          <a:noFill/>
          <a:ln w="22225">
            <a:solidFill>
              <a:srgbClr val="7B8FAE"/>
            </a:solidFill>
            <a:prstDash val="solid"/>
            <a:tailEnd type="triangle"/>
          </a:ln>
        </p:spPr>
      </p:sp>
      <p:sp>
        <p:nvSpPr>
          <p:cNvPr id="40" name="Shape 37"/>
          <p:cNvSpPr/>
          <p:nvPr/>
        </p:nvSpPr>
        <p:spPr>
          <a:xfrm>
            <a:off x="9677095" y="5120640"/>
            <a:ext cx="1965960" cy="777240"/>
          </a:xfrm>
          <a:prstGeom prst="roundRect">
            <a:avLst>
              <a:gd name="adj" fmla="val 9412"/>
            </a:avLst>
          </a:prstGeom>
          <a:solidFill>
            <a:srgbClr val="E4ECF6"/>
          </a:solidFill>
          <a:ln w="12700">
            <a:solidFill>
              <a:srgbClr val="E4ECF6"/>
            </a:solidFill>
            <a:prstDash val="solid"/>
          </a:ln>
        </p:spPr>
      </p:sp>
      <p:sp>
        <p:nvSpPr>
          <p:cNvPr id="41" name="Text 38"/>
          <p:cNvSpPr/>
          <p:nvPr/>
        </p:nvSpPr>
        <p:spPr>
          <a:xfrm>
            <a:off x="9677095" y="5120640"/>
            <a:ext cx="1965960" cy="777240"/>
          </a:xfrm>
          <a:prstGeom prst="rect">
            <a:avLst/>
          </a:prstGeom>
          <a:noFill/>
          <a:ln/>
        </p:spPr>
        <p:txBody>
          <a:bodyPr wrap="square" lIns="1016" tIns="1016" rIns="1016" bIns="1016" rtlCol="0" anchor="ctr"/>
          <a:lstStyle/>
          <a:p>
            <a:pPr algn="ctr" indent="0" marL="0">
              <a:buNone/>
            </a:pPr>
            <a:r>
              <a:rPr lang="en-US" sz="1500" b="1" dirty="0">
                <a:solidFill>
                  <a:srgbClr val="002244"/>
                </a:solidFill>
                <a:latin typeface="Arial" pitchFamily="34" charset="0"/>
                <a:ea typeface="Arial" pitchFamily="34" charset="-122"/>
                <a:cs typeface="Arial" pitchFamily="34" charset="-120"/>
              </a:rPr>
              <a:t>Answer</a:t>
            </a:r>
            <a:endParaRPr lang="en-US" sz="1500" dirty="0"/>
          </a:p>
          <a:p>
            <a:pPr algn="ctr" indent="0" marL="0">
              <a:buNone/>
            </a:pPr>
            <a:r>
              <a:rPr lang="en-US" sz="1100" dirty="0">
                <a:solidFill>
                  <a:srgbClr val="002244"/>
                </a:solidFill>
                <a:latin typeface="Arial" pitchFamily="34" charset="0"/>
                <a:ea typeface="Arial" pitchFamily="34" charset="-122"/>
                <a:cs typeface="Arial" pitchFamily="34" charset="-120"/>
              </a:rPr>
              <a:t>summary, SQL, table, Excel</a:t>
            </a:r>
            <a:endParaRPr lang="en-US" sz="1500" dirty="0"/>
          </a:p>
        </p:txBody>
      </p:sp>
      <p:sp>
        <p:nvSpPr>
          <p:cNvPr id="42" name="Text 39"/>
          <p:cNvSpPr/>
          <p:nvPr/>
        </p:nvSpPr>
        <p:spPr>
          <a:xfrm>
            <a:off x="548640" y="6035040"/>
            <a:ext cx="8229600" cy="274320"/>
          </a:xfrm>
          <a:prstGeom prst="rect">
            <a:avLst/>
          </a:prstGeom>
          <a:noFill/>
          <a:ln/>
        </p:spPr>
        <p:txBody>
          <a:bodyPr wrap="square" lIns="0" tIns="0" rIns="0" bIns="0" rtlCol="0" anchor="ctr"/>
          <a:lstStyle/>
          <a:p>
            <a:pPr indent="0" marL="0">
              <a:buNone/>
            </a:pPr>
            <a:r>
              <a:rPr lang="en-US" sz="1200" dirty="0">
                <a:solidFill>
                  <a:srgbClr val="555759"/>
                </a:solidFill>
                <a:latin typeface="Arial" pitchFamily="34" charset="0"/>
                <a:ea typeface="Arial" pitchFamily="34" charset="-122"/>
                <a:cs typeface="Arial" pitchFamily="34" charset="-120"/>
              </a:rPr>
              <a:t>Gold = safety layer. A rejected query goes back to the AI for repair, up to 3 tries.</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8229600" cy="274320"/>
          </a:xfrm>
          <a:prstGeom prst="rect">
            <a:avLst/>
          </a:prstGeom>
          <a:noFill/>
          <a:ln/>
        </p:spPr>
        <p:txBody>
          <a:bodyPr wrap="square" lIns="0" tIns="0" rIns="0" bIns="0" rtlCol="0" anchor="ctr"/>
          <a:lstStyle/>
          <a:p>
            <a:pPr indent="0" marL="0">
              <a:buNone/>
            </a:pPr>
            <a:r>
              <a:rPr lang="en-US" sz="1200" b="1" spc="200" kern="0" dirty="0">
                <a:solidFill>
                  <a:srgbClr val="255799"/>
                </a:solidFill>
                <a:latin typeface="Arial" pitchFamily="34" charset="0"/>
                <a:ea typeface="Arial" pitchFamily="34" charset="-122"/>
                <a:cs typeface="Arial" pitchFamily="34" charset="-120"/>
              </a:rPr>
              <a:t>PROGRESS TO DATE</a:t>
            </a:r>
            <a:endParaRPr lang="en-US" sz="1200" dirty="0"/>
          </a:p>
        </p:txBody>
      </p:sp>
      <p:sp>
        <p:nvSpPr>
          <p:cNvPr id="3" name="Text 1"/>
          <p:cNvSpPr/>
          <p:nvPr/>
        </p:nvSpPr>
        <p:spPr>
          <a:xfrm>
            <a:off x="548640" y="621792"/>
            <a:ext cx="11094415" cy="640080"/>
          </a:xfrm>
          <a:prstGeom prst="rect">
            <a:avLst/>
          </a:prstGeom>
          <a:noFill/>
          <a:ln/>
        </p:spPr>
        <p:txBody>
          <a:bodyPr wrap="square" lIns="0" tIns="0" rIns="0" bIns="0" rtlCol="0" anchor="ctr"/>
          <a:lstStyle/>
          <a:p>
            <a:pPr indent="0" marL="0">
              <a:buNone/>
            </a:pPr>
            <a:r>
              <a:rPr lang="en-US" sz="3000" b="1" dirty="0">
                <a:solidFill>
                  <a:srgbClr val="1B3D6D"/>
                </a:solidFill>
                <a:latin typeface="Arial" pitchFamily="34" charset="0"/>
                <a:ea typeface="Arial" pitchFamily="34" charset="-122"/>
                <a:cs typeface="Arial" pitchFamily="34" charset="-120"/>
              </a:rPr>
              <a:t>MVP built: all three targets met on sample data</a:t>
            </a:r>
            <a:endParaRPr lang="en-US" sz="3000" dirty="0"/>
          </a:p>
        </p:txBody>
      </p:sp>
      <p:sp>
        <p:nvSpPr>
          <p:cNvPr id="4" name="Text 2"/>
          <p:cNvSpPr/>
          <p:nvPr/>
        </p:nvSpPr>
        <p:spPr>
          <a:xfrm>
            <a:off x="11185855" y="6400800"/>
            <a:ext cx="457200" cy="274320"/>
          </a:xfrm>
          <a:prstGeom prst="rect">
            <a:avLst/>
          </a:prstGeom>
          <a:noFill/>
          <a:ln/>
        </p:spPr>
        <p:txBody>
          <a:bodyPr wrap="square" lIns="0" tIns="0" rIns="0" bIns="0" rtlCol="0" anchor="ctr"/>
          <a:lstStyle/>
          <a:p>
            <a:pPr algn="r" indent="0" marL="0">
              <a:buNone/>
            </a:pPr>
            <a:r>
              <a:rPr lang="en-US" sz="1000" dirty="0">
                <a:solidFill>
                  <a:srgbClr val="7B8FAE"/>
                </a:solidFill>
                <a:latin typeface="Arial" pitchFamily="34" charset="0"/>
                <a:ea typeface="Arial" pitchFamily="34" charset="-122"/>
                <a:cs typeface="Arial" pitchFamily="34" charset="-120"/>
              </a:rPr>
              <a:t>4</a:t>
            </a:r>
            <a:endParaRPr lang="en-US" sz="1000" dirty="0"/>
          </a:p>
        </p:txBody>
      </p:sp>
      <p:sp>
        <p:nvSpPr>
          <p:cNvPr id="5" name="Shape 3"/>
          <p:cNvSpPr/>
          <p:nvPr/>
        </p:nvSpPr>
        <p:spPr>
          <a:xfrm>
            <a:off x="548640" y="1463040"/>
            <a:ext cx="5852160" cy="4470400"/>
          </a:xfrm>
          <a:prstGeom prst="rect">
            <a:avLst/>
          </a:prstGeom>
          <a:solidFill>
            <a:srgbClr val="FFFFFF"/>
          </a:solidFill>
          <a:ln w="12700">
            <a:solidFill>
              <a:srgbClr val="D3DCE8"/>
            </a:solidFill>
            <a:prstDash val="solid"/>
          </a:ln>
          <a:effectLst>
            <a:outerShdw sx="100000" sy="100000" kx="0" ky="0" algn="bl" rotWithShape="0" blurRad="101600" dist="25400" dir="5400000">
              <a:srgbClr val="000000">
                <a:alpha val="18000"/>
              </a:srgbClr>
            </a:outerShdw>
          </a:effectLst>
        </p:spPr>
      </p:sp>
      <p:pic>
        <p:nvPicPr>
          <p:cNvPr id="6" name="Image 0" descr="/Users/ericsong/Course/SWE277P/assignment/SWE276P/assignment/midterm/images/03-chat-answer.png">    </p:cNvPr>
          <p:cNvPicPr>
            <a:picLocks noChangeAspect="1"/>
          </p:cNvPicPr>
          <p:nvPr/>
        </p:nvPicPr>
        <p:blipFill>
          <a:blip r:embed="rId1"/>
          <a:stretch>
            <a:fillRect/>
          </a:stretch>
        </p:blipFill>
        <p:spPr>
          <a:xfrm>
            <a:off x="548640" y="1463040"/>
            <a:ext cx="5852160" cy="4470400"/>
          </a:xfrm>
          <a:prstGeom prst="rect">
            <a:avLst/>
          </a:prstGeom>
        </p:spPr>
      </p:pic>
      <p:sp>
        <p:nvSpPr>
          <p:cNvPr id="7" name="Text 4"/>
          <p:cNvSpPr/>
          <p:nvPr/>
        </p:nvSpPr>
        <p:spPr>
          <a:xfrm>
            <a:off x="548640" y="6024880"/>
            <a:ext cx="5852160" cy="274320"/>
          </a:xfrm>
          <a:prstGeom prst="rect">
            <a:avLst/>
          </a:prstGeom>
          <a:noFill/>
          <a:ln/>
        </p:spPr>
        <p:txBody>
          <a:bodyPr wrap="square" lIns="0" tIns="0" rIns="0" bIns="0" rtlCol="0" anchor="ctr"/>
          <a:lstStyle/>
          <a:p>
            <a:pPr indent="0" marL="0">
              <a:buNone/>
            </a:pPr>
            <a:r>
              <a:rPr lang="en-US" sz="1100" dirty="0">
                <a:solidFill>
                  <a:srgbClr val="555759"/>
                </a:solidFill>
                <a:latin typeface="Arial" pitchFamily="34" charset="0"/>
                <a:ea typeface="Arial" pitchFamily="34" charset="-122"/>
                <a:cs typeface="Arial" pitchFamily="34" charset="-120"/>
              </a:rPr>
              <a:t>Chat: the answer, how the question was read, the SQL, and Excel/CSV downloads</a:t>
            </a:r>
            <a:endParaRPr lang="en-US" sz="1100" dirty="0"/>
          </a:p>
        </p:txBody>
      </p:sp>
      <p:sp>
        <p:nvSpPr>
          <p:cNvPr id="8" name="Text 5"/>
          <p:cNvSpPr/>
          <p:nvPr/>
        </p:nvSpPr>
        <p:spPr>
          <a:xfrm>
            <a:off x="6858000" y="1463040"/>
            <a:ext cx="1920240" cy="822960"/>
          </a:xfrm>
          <a:prstGeom prst="rect">
            <a:avLst/>
          </a:prstGeom>
          <a:noFill/>
          <a:ln/>
        </p:spPr>
        <p:txBody>
          <a:bodyPr wrap="square" lIns="0" tIns="0" rIns="0" bIns="0" rtlCol="0" anchor="ctr"/>
          <a:lstStyle/>
          <a:p>
            <a:pPr indent="0" marL="0">
              <a:buNone/>
            </a:pPr>
            <a:r>
              <a:rPr lang="en-US" sz="3200" b="1" dirty="0">
                <a:solidFill>
                  <a:srgbClr val="255799"/>
                </a:solidFill>
                <a:latin typeface="Arial" pitchFamily="34" charset="0"/>
                <a:ea typeface="Arial" pitchFamily="34" charset="-122"/>
                <a:cs typeface="Arial" pitchFamily="34" charset="-120"/>
              </a:rPr>
              <a:t>20 / 20</a:t>
            </a:r>
            <a:endParaRPr lang="en-US" sz="3200" dirty="0"/>
          </a:p>
        </p:txBody>
      </p:sp>
      <p:sp>
        <p:nvSpPr>
          <p:cNvPr id="9" name="Text 6"/>
          <p:cNvSpPr/>
          <p:nvPr/>
        </p:nvSpPr>
        <p:spPr>
          <a:xfrm>
            <a:off x="8823960" y="1463040"/>
            <a:ext cx="2819095" cy="822960"/>
          </a:xfrm>
          <a:prstGeom prst="rect">
            <a:avLst/>
          </a:prstGeom>
          <a:noFill/>
          <a:ln/>
        </p:spPr>
        <p:txBody>
          <a:bodyPr wrap="square" lIns="0" tIns="0" rIns="0" bIns="0" rtlCol="0" anchor="ctr"/>
          <a:lstStyle/>
          <a:p>
            <a:pPr indent="0" marL="0">
              <a:buNone/>
            </a:pPr>
            <a:r>
              <a:rPr lang="en-US" sz="1350" dirty="0">
                <a:solidFill>
                  <a:srgbClr val="002244"/>
                </a:solidFill>
                <a:latin typeface="Arial" pitchFamily="34" charset="0"/>
                <a:ea typeface="Arial" pitchFamily="34" charset="-122"/>
                <a:cs typeface="Arial" pitchFamily="34" charset="-120"/>
              </a:rPr>
              <a:t>benchmark questions correct (held-out set: 10 / 10)</a:t>
            </a:r>
            <a:endParaRPr lang="en-US" sz="1350" dirty="0"/>
          </a:p>
        </p:txBody>
      </p:sp>
      <p:sp>
        <p:nvSpPr>
          <p:cNvPr id="10" name="Text 7"/>
          <p:cNvSpPr/>
          <p:nvPr/>
        </p:nvSpPr>
        <p:spPr>
          <a:xfrm>
            <a:off x="6858000" y="2423160"/>
            <a:ext cx="1920240" cy="822960"/>
          </a:xfrm>
          <a:prstGeom prst="rect">
            <a:avLst/>
          </a:prstGeom>
          <a:noFill/>
          <a:ln/>
        </p:spPr>
        <p:txBody>
          <a:bodyPr wrap="square" lIns="0" tIns="0" rIns="0" bIns="0" rtlCol="0" anchor="ctr"/>
          <a:lstStyle/>
          <a:p>
            <a:pPr indent="0" marL="0">
              <a:buNone/>
            </a:pPr>
            <a:r>
              <a:rPr lang="en-US" sz="3200" b="1" dirty="0">
                <a:solidFill>
                  <a:srgbClr val="255799"/>
                </a:solidFill>
                <a:latin typeface="Arial" pitchFamily="34" charset="0"/>
                <a:ea typeface="Arial" pitchFamily="34" charset="-122"/>
                <a:cs typeface="Arial" pitchFamily="34" charset="-120"/>
              </a:rPr>
              <a:t>293 · 79</a:t>
            </a:r>
            <a:endParaRPr lang="en-US" sz="3200" dirty="0"/>
          </a:p>
        </p:txBody>
      </p:sp>
      <p:sp>
        <p:nvSpPr>
          <p:cNvPr id="11" name="Text 8"/>
          <p:cNvSpPr/>
          <p:nvPr/>
        </p:nvSpPr>
        <p:spPr>
          <a:xfrm>
            <a:off x="8823960" y="2423160"/>
            <a:ext cx="2819095" cy="822960"/>
          </a:xfrm>
          <a:prstGeom prst="rect">
            <a:avLst/>
          </a:prstGeom>
          <a:noFill/>
          <a:ln/>
        </p:spPr>
        <p:txBody>
          <a:bodyPr wrap="square" lIns="0" tIns="0" rIns="0" bIns="0" rtlCol="0" anchor="ctr"/>
          <a:lstStyle/>
          <a:p>
            <a:pPr indent="0" marL="0">
              <a:buNone/>
            </a:pPr>
            <a:r>
              <a:rPr lang="en-US" sz="1350" dirty="0">
                <a:solidFill>
                  <a:srgbClr val="002244"/>
                </a:solidFill>
                <a:latin typeface="Arial" pitchFamily="34" charset="0"/>
                <a:ea typeface="Arial" pitchFamily="34" charset="-122"/>
                <a:cs typeface="Arial" pitchFamily="34" charset="-120"/>
              </a:rPr>
              <a:t>rows and NetIDs match the compiled sheet; a re-upload adds nothing</a:t>
            </a:r>
            <a:endParaRPr lang="en-US" sz="1350" dirty="0"/>
          </a:p>
        </p:txBody>
      </p:sp>
      <p:sp>
        <p:nvSpPr>
          <p:cNvPr id="12" name="Text 9"/>
          <p:cNvSpPr/>
          <p:nvPr/>
        </p:nvSpPr>
        <p:spPr>
          <a:xfrm>
            <a:off x="6858000" y="3383280"/>
            <a:ext cx="1920240" cy="822960"/>
          </a:xfrm>
          <a:prstGeom prst="rect">
            <a:avLst/>
          </a:prstGeom>
          <a:noFill/>
          <a:ln/>
        </p:spPr>
        <p:txBody>
          <a:bodyPr wrap="square" lIns="0" tIns="0" rIns="0" bIns="0" rtlCol="0" anchor="ctr"/>
          <a:lstStyle/>
          <a:p>
            <a:pPr indent="0" marL="0">
              <a:buNone/>
            </a:pPr>
            <a:r>
              <a:rPr lang="en-US" sz="3200" b="1" dirty="0">
                <a:solidFill>
                  <a:srgbClr val="255799"/>
                </a:solidFill>
                <a:latin typeface="Arial" pitchFamily="34" charset="0"/>
                <a:ea typeface="Arial" pitchFamily="34" charset="-122"/>
                <a:cs typeface="Arial" pitchFamily="34" charset="-120"/>
              </a:rPr>
              <a:t>4–7 s</a:t>
            </a:r>
            <a:endParaRPr lang="en-US" sz="3200" dirty="0"/>
          </a:p>
        </p:txBody>
      </p:sp>
      <p:sp>
        <p:nvSpPr>
          <p:cNvPr id="13" name="Text 10"/>
          <p:cNvSpPr/>
          <p:nvPr/>
        </p:nvSpPr>
        <p:spPr>
          <a:xfrm>
            <a:off x="8823960" y="3383280"/>
            <a:ext cx="2819095" cy="822960"/>
          </a:xfrm>
          <a:prstGeom prst="rect">
            <a:avLst/>
          </a:prstGeom>
          <a:noFill/>
          <a:ln/>
        </p:spPr>
        <p:txBody>
          <a:bodyPr wrap="square" lIns="0" tIns="0" rIns="0" bIns="0" rtlCol="0" anchor="ctr"/>
          <a:lstStyle/>
          <a:p>
            <a:pPr indent="0" marL="0">
              <a:buNone/>
            </a:pPr>
            <a:r>
              <a:rPr lang="en-US" sz="1350" dirty="0">
                <a:solidFill>
                  <a:srgbClr val="002244"/>
                </a:solidFill>
                <a:latin typeface="Arial" pitchFamily="34" charset="0"/>
                <a:ea typeface="Arial" pitchFamily="34" charset="-122"/>
                <a:cs typeface="Arial" pitchFamily="34" charset="-120"/>
              </a:rPr>
              <a:t>from question to downloaded Excel file</a:t>
            </a:r>
            <a:endParaRPr lang="en-US" sz="1350" dirty="0"/>
          </a:p>
        </p:txBody>
      </p:sp>
      <p:sp>
        <p:nvSpPr>
          <p:cNvPr id="14" name="Shape 11"/>
          <p:cNvSpPr/>
          <p:nvPr/>
        </p:nvSpPr>
        <p:spPr>
          <a:xfrm>
            <a:off x="6858000" y="4434840"/>
            <a:ext cx="4785055" cy="1874520"/>
          </a:xfrm>
          <a:prstGeom prst="roundRect">
            <a:avLst>
              <a:gd name="adj" fmla="val 3902"/>
            </a:avLst>
          </a:prstGeom>
          <a:solidFill>
            <a:srgbClr val="F3F6FA"/>
          </a:solidFill>
          <a:ln w="12700">
            <a:solidFill>
              <a:srgbClr val="F3F6FA"/>
            </a:solidFill>
            <a:prstDash val="solid"/>
          </a:ln>
        </p:spPr>
      </p:sp>
      <p:pic>
        <p:nvPicPr>
          <p:cNvPr id="15" name="Image 1" descr="preencoded.png">    </p:cNvPr>
          <p:cNvPicPr>
            <a:picLocks noChangeAspect="1"/>
          </p:cNvPicPr>
          <p:nvPr/>
        </p:nvPicPr>
        <p:blipFill>
          <a:blip r:embed="rId2"/>
          <a:stretch>
            <a:fillRect/>
          </a:stretch>
        </p:blipFill>
        <p:spPr>
          <a:xfrm>
            <a:off x="7086600" y="4654296"/>
            <a:ext cx="237744" cy="237744"/>
          </a:xfrm>
          <a:prstGeom prst="rect">
            <a:avLst/>
          </a:prstGeom>
        </p:spPr>
      </p:pic>
      <p:sp>
        <p:nvSpPr>
          <p:cNvPr id="16" name="Text 12"/>
          <p:cNvSpPr/>
          <p:nvPr/>
        </p:nvSpPr>
        <p:spPr>
          <a:xfrm>
            <a:off x="7452360" y="4617720"/>
            <a:ext cx="4053535" cy="310896"/>
          </a:xfrm>
          <a:prstGeom prst="rect">
            <a:avLst/>
          </a:prstGeom>
          <a:noFill/>
          <a:ln/>
        </p:spPr>
        <p:txBody>
          <a:bodyPr wrap="square" lIns="0" tIns="0" rIns="0" bIns="0" rtlCol="0" anchor="ctr"/>
          <a:lstStyle/>
          <a:p>
            <a:pPr indent="0" marL="0">
              <a:buNone/>
            </a:pPr>
            <a:r>
              <a:rPr lang="en-US" sz="1300" dirty="0">
                <a:solidFill>
                  <a:srgbClr val="002244"/>
                </a:solidFill>
                <a:latin typeface="Arial" pitchFamily="34" charset="0"/>
                <a:ea typeface="Arial" pitchFamily="34" charset="-122"/>
                <a:cs typeface="Arial" pitchFamily="34" charset="-120"/>
              </a:rPr>
              <a:t>Built Oct 20–22 with AI-assisted development</a:t>
            </a:r>
            <a:endParaRPr lang="en-US" sz="1300" dirty="0"/>
          </a:p>
        </p:txBody>
      </p:sp>
      <p:pic>
        <p:nvPicPr>
          <p:cNvPr id="17" name="Image 2" descr="preencoded.png">    </p:cNvPr>
          <p:cNvPicPr>
            <a:picLocks noChangeAspect="1"/>
          </p:cNvPicPr>
          <p:nvPr/>
        </p:nvPicPr>
        <p:blipFill>
          <a:blip r:embed="rId3"/>
          <a:stretch>
            <a:fillRect/>
          </a:stretch>
        </p:blipFill>
        <p:spPr>
          <a:xfrm>
            <a:off x="7086600" y="5056632"/>
            <a:ext cx="237744" cy="237744"/>
          </a:xfrm>
          <a:prstGeom prst="rect">
            <a:avLst/>
          </a:prstGeom>
        </p:spPr>
      </p:pic>
      <p:sp>
        <p:nvSpPr>
          <p:cNvPr id="18" name="Text 13"/>
          <p:cNvSpPr/>
          <p:nvPr/>
        </p:nvSpPr>
        <p:spPr>
          <a:xfrm>
            <a:off x="7452360" y="5020056"/>
            <a:ext cx="4053535" cy="310896"/>
          </a:xfrm>
          <a:prstGeom prst="rect">
            <a:avLst/>
          </a:prstGeom>
          <a:noFill/>
          <a:ln/>
        </p:spPr>
        <p:txBody>
          <a:bodyPr wrap="square" lIns="0" tIns="0" rIns="0" bIns="0" rtlCol="0" anchor="ctr"/>
          <a:lstStyle/>
          <a:p>
            <a:pPr indent="0" marL="0">
              <a:buNone/>
            </a:pPr>
            <a:r>
              <a:rPr lang="en-US" sz="1300" dirty="0">
                <a:solidFill>
                  <a:srgbClr val="002244"/>
                </a:solidFill>
                <a:latin typeface="Arial" pitchFamily="34" charset="0"/>
                <a:ea typeface="Arial" pitchFamily="34" charset="-122"/>
                <a:cs typeface="Arial" pitchFamily="34" charset="-120"/>
              </a:rPr>
              <a:t>9 of 10 acceptance tests pass; login moves to Sprint 3</a:t>
            </a:r>
            <a:endParaRPr lang="en-US" sz="1300" dirty="0"/>
          </a:p>
        </p:txBody>
      </p:sp>
      <p:pic>
        <p:nvPicPr>
          <p:cNvPr id="19" name="Image 3" descr="preencoded.png">    </p:cNvPr>
          <p:cNvPicPr>
            <a:picLocks noChangeAspect="1"/>
          </p:cNvPicPr>
          <p:nvPr/>
        </p:nvPicPr>
        <p:blipFill>
          <a:blip r:embed="rId4"/>
          <a:stretch>
            <a:fillRect/>
          </a:stretch>
        </p:blipFill>
        <p:spPr>
          <a:xfrm>
            <a:off x="7086600" y="5458968"/>
            <a:ext cx="237744" cy="237744"/>
          </a:xfrm>
          <a:prstGeom prst="rect">
            <a:avLst/>
          </a:prstGeom>
        </p:spPr>
      </p:pic>
      <p:sp>
        <p:nvSpPr>
          <p:cNvPr id="20" name="Text 14"/>
          <p:cNvSpPr/>
          <p:nvPr/>
        </p:nvSpPr>
        <p:spPr>
          <a:xfrm>
            <a:off x="7452360" y="5422392"/>
            <a:ext cx="4053535" cy="310896"/>
          </a:xfrm>
          <a:prstGeom prst="rect">
            <a:avLst/>
          </a:prstGeom>
          <a:noFill/>
          <a:ln/>
        </p:spPr>
        <p:txBody>
          <a:bodyPr wrap="square" lIns="0" tIns="0" rIns="0" bIns="0" rtlCol="0" anchor="ctr"/>
          <a:lstStyle/>
          <a:p>
            <a:pPr indent="0" marL="0">
              <a:buNone/>
            </a:pPr>
            <a:r>
              <a:rPr lang="en-US" sz="1300" dirty="0">
                <a:solidFill>
                  <a:srgbClr val="002244"/>
                </a:solidFill>
                <a:latin typeface="Arial" pitchFamily="34" charset="0"/>
                <a:ea typeface="Arial" pitchFamily="34" charset="-122"/>
                <a:cs typeface="Arial" pitchFamily="34" charset="-120"/>
              </a:rPr>
              <a:t>1,149 automated tests; 63 user stories walked</a:t>
            </a:r>
            <a:endParaRPr lang="en-US" sz="1300" dirty="0"/>
          </a:p>
        </p:txBody>
      </p:sp>
      <p:pic>
        <p:nvPicPr>
          <p:cNvPr id="21" name="Image 4" descr="preencoded.png">    </p:cNvPr>
          <p:cNvPicPr>
            <a:picLocks noChangeAspect="1"/>
          </p:cNvPicPr>
          <p:nvPr/>
        </p:nvPicPr>
        <p:blipFill>
          <a:blip r:embed="rId5"/>
          <a:stretch>
            <a:fillRect/>
          </a:stretch>
        </p:blipFill>
        <p:spPr>
          <a:xfrm>
            <a:off x="7086600" y="5861304"/>
            <a:ext cx="237744" cy="237744"/>
          </a:xfrm>
          <a:prstGeom prst="rect">
            <a:avLst/>
          </a:prstGeom>
        </p:spPr>
      </p:pic>
      <p:sp>
        <p:nvSpPr>
          <p:cNvPr id="22" name="Text 15"/>
          <p:cNvSpPr/>
          <p:nvPr/>
        </p:nvSpPr>
        <p:spPr>
          <a:xfrm>
            <a:off x="7452360" y="5824728"/>
            <a:ext cx="4053535" cy="310896"/>
          </a:xfrm>
          <a:prstGeom prst="rect">
            <a:avLst/>
          </a:prstGeom>
          <a:noFill/>
          <a:ln/>
        </p:spPr>
        <p:txBody>
          <a:bodyPr wrap="square" lIns="0" tIns="0" rIns="0" bIns="0" rtlCol="0" anchor="ctr"/>
          <a:lstStyle/>
          <a:p>
            <a:pPr indent="0" marL="0">
              <a:buNone/>
            </a:pPr>
            <a:r>
              <a:rPr lang="en-US" sz="1300" dirty="0">
                <a:solidFill>
                  <a:srgbClr val="002244"/>
                </a:solidFill>
                <a:latin typeface="Arial" pitchFamily="34" charset="0"/>
                <a:ea typeface="Arial" pitchFamily="34" charset="-122"/>
                <a:cs typeface="Arial" pitchFamily="34" charset="-120"/>
              </a:rPr>
              <a:t>Sponsor's 14 requests checked: 13 pass, 1 gap</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8229600" cy="274320"/>
          </a:xfrm>
          <a:prstGeom prst="rect">
            <a:avLst/>
          </a:prstGeom>
          <a:noFill/>
          <a:ln/>
        </p:spPr>
        <p:txBody>
          <a:bodyPr wrap="square" lIns="0" tIns="0" rIns="0" bIns="0" rtlCol="0" anchor="ctr"/>
          <a:lstStyle/>
          <a:p>
            <a:pPr indent="0" marL="0">
              <a:buNone/>
            </a:pPr>
            <a:r>
              <a:rPr lang="en-US" sz="1200" b="1" spc="200" kern="0" dirty="0">
                <a:solidFill>
                  <a:srgbClr val="255799"/>
                </a:solidFill>
                <a:latin typeface="Arial" pitchFamily="34" charset="0"/>
                <a:ea typeface="Arial" pitchFamily="34" charset="-122"/>
                <a:cs typeface="Arial" pitchFamily="34" charset="-120"/>
              </a:rPr>
              <a:t>CHALLENGES &amp; LESSONS LEARNED</a:t>
            </a:r>
            <a:endParaRPr lang="en-US" sz="1200" dirty="0"/>
          </a:p>
        </p:txBody>
      </p:sp>
      <p:sp>
        <p:nvSpPr>
          <p:cNvPr id="3" name="Text 1"/>
          <p:cNvSpPr/>
          <p:nvPr/>
        </p:nvSpPr>
        <p:spPr>
          <a:xfrm>
            <a:off x="548640" y="621792"/>
            <a:ext cx="11094415" cy="640080"/>
          </a:xfrm>
          <a:prstGeom prst="rect">
            <a:avLst/>
          </a:prstGeom>
          <a:noFill/>
          <a:ln/>
        </p:spPr>
        <p:txBody>
          <a:bodyPr wrap="square" lIns="0" tIns="0" rIns="0" bIns="0" rtlCol="0" anchor="ctr"/>
          <a:lstStyle/>
          <a:p>
            <a:pPr indent="0" marL="0">
              <a:buNone/>
            </a:pPr>
            <a:r>
              <a:rPr lang="en-US" sz="3000" b="1" dirty="0">
                <a:solidFill>
                  <a:srgbClr val="1B3D6D"/>
                </a:solidFill>
                <a:latin typeface="Arial" pitchFamily="34" charset="0"/>
                <a:ea typeface="Arial" pitchFamily="34" charset="-122"/>
                <a:cs typeface="Arial" pitchFamily="34" charset="-120"/>
              </a:rPr>
              <a:t>Challenges, and how we are handling them</a:t>
            </a:r>
            <a:endParaRPr lang="en-US" sz="3000" dirty="0"/>
          </a:p>
        </p:txBody>
      </p:sp>
      <p:sp>
        <p:nvSpPr>
          <p:cNvPr id="4" name="Text 2"/>
          <p:cNvSpPr/>
          <p:nvPr/>
        </p:nvSpPr>
        <p:spPr>
          <a:xfrm>
            <a:off x="11185855" y="6400800"/>
            <a:ext cx="457200" cy="274320"/>
          </a:xfrm>
          <a:prstGeom prst="rect">
            <a:avLst/>
          </a:prstGeom>
          <a:noFill/>
          <a:ln/>
        </p:spPr>
        <p:txBody>
          <a:bodyPr wrap="square" lIns="0" tIns="0" rIns="0" bIns="0" rtlCol="0" anchor="ctr"/>
          <a:lstStyle/>
          <a:p>
            <a:pPr algn="r" indent="0" marL="0">
              <a:buNone/>
            </a:pPr>
            <a:r>
              <a:rPr lang="en-US" sz="1000" dirty="0">
                <a:solidFill>
                  <a:srgbClr val="7B8FAE"/>
                </a:solidFill>
                <a:latin typeface="Arial" pitchFamily="34" charset="0"/>
                <a:ea typeface="Arial" pitchFamily="34" charset="-122"/>
                <a:cs typeface="Arial" pitchFamily="34" charset="-120"/>
              </a:rPr>
              <a:t>5</a:t>
            </a:r>
            <a:endParaRPr lang="en-US" sz="1000" dirty="0"/>
          </a:p>
        </p:txBody>
      </p:sp>
      <p:sp>
        <p:nvSpPr>
          <p:cNvPr id="5" name="Shape 3"/>
          <p:cNvSpPr/>
          <p:nvPr/>
        </p:nvSpPr>
        <p:spPr>
          <a:xfrm>
            <a:off x="548640" y="1463040"/>
            <a:ext cx="2567864" cy="3154680"/>
          </a:xfrm>
          <a:prstGeom prst="roundRect">
            <a:avLst>
              <a:gd name="adj" fmla="val 3561"/>
            </a:avLst>
          </a:prstGeom>
          <a:solidFill>
            <a:srgbClr val="F3F6FA"/>
          </a:solidFill>
          <a:ln w="12700">
            <a:solidFill>
              <a:srgbClr val="F3F6FA"/>
            </a:solidFill>
            <a:prstDash val="solid"/>
          </a:ln>
        </p:spPr>
      </p:sp>
      <p:sp>
        <p:nvSpPr>
          <p:cNvPr id="6" name="Shape 4"/>
          <p:cNvSpPr/>
          <p:nvPr/>
        </p:nvSpPr>
        <p:spPr>
          <a:xfrm>
            <a:off x="777240" y="1691640"/>
            <a:ext cx="640080" cy="640080"/>
          </a:xfrm>
          <a:prstGeom prst="ellipse">
            <a:avLst/>
          </a:prstGeom>
          <a:solidFill>
            <a:srgbClr val="FECC07"/>
          </a:solidFill>
          <a:ln w="12700">
            <a:solidFill>
              <a:srgbClr val="FECC07"/>
            </a:solidFill>
            <a:prstDash val="solid"/>
          </a:ln>
        </p:spPr>
      </p:sp>
      <p:pic>
        <p:nvPicPr>
          <p:cNvPr id="7" name="Image 0" descr="preencoded.png">    </p:cNvPr>
          <p:cNvPicPr>
            <a:picLocks noChangeAspect="1"/>
          </p:cNvPicPr>
          <p:nvPr/>
        </p:nvPicPr>
        <p:blipFill>
          <a:blip r:embed="rId1"/>
          <a:stretch>
            <a:fillRect/>
          </a:stretch>
        </p:blipFill>
        <p:spPr>
          <a:xfrm>
            <a:off x="918058" y="1832458"/>
            <a:ext cx="358445" cy="358445"/>
          </a:xfrm>
          <a:prstGeom prst="rect">
            <a:avLst/>
          </a:prstGeom>
        </p:spPr>
      </p:pic>
      <p:sp>
        <p:nvSpPr>
          <p:cNvPr id="8" name="Text 5"/>
          <p:cNvSpPr/>
          <p:nvPr/>
        </p:nvSpPr>
        <p:spPr>
          <a:xfrm>
            <a:off x="777240" y="2468880"/>
            <a:ext cx="2110664" cy="365760"/>
          </a:xfrm>
          <a:prstGeom prst="rect">
            <a:avLst/>
          </a:prstGeom>
          <a:noFill/>
          <a:ln/>
        </p:spPr>
        <p:txBody>
          <a:bodyPr wrap="square" lIns="0" tIns="0" rIns="0" bIns="0" rtlCol="0" anchor="ctr"/>
          <a:lstStyle/>
          <a:p>
            <a:pPr indent="0" marL="0">
              <a:buNone/>
            </a:pPr>
            <a:r>
              <a:rPr lang="en-US" sz="1600" b="1" dirty="0">
                <a:solidFill>
                  <a:srgbClr val="002244"/>
                </a:solidFill>
                <a:latin typeface="Arial" pitchFamily="34" charset="0"/>
                <a:ea typeface="Arial" pitchFamily="34" charset="-122"/>
                <a:cs typeface="Arial" pitchFamily="34" charset="-120"/>
              </a:rPr>
              <a:t>Privacy</a:t>
            </a:r>
            <a:endParaRPr lang="en-US" sz="1600" dirty="0"/>
          </a:p>
        </p:txBody>
      </p:sp>
      <p:sp>
        <p:nvSpPr>
          <p:cNvPr id="9" name="Text 6"/>
          <p:cNvSpPr/>
          <p:nvPr/>
        </p:nvSpPr>
        <p:spPr>
          <a:xfrm>
            <a:off x="777240" y="2880360"/>
            <a:ext cx="2110664" cy="685800"/>
          </a:xfrm>
          <a:prstGeom prst="rect">
            <a:avLst/>
          </a:prstGeom>
          <a:noFill/>
          <a:ln/>
        </p:spPr>
        <p:txBody>
          <a:bodyPr wrap="square" lIns="0" tIns="0" rIns="0" bIns="0" rtlCol="0" anchor="t"/>
          <a:lstStyle/>
          <a:p>
            <a:pPr indent="0" marL="0">
              <a:buNone/>
            </a:pPr>
            <a:r>
              <a:rPr lang="en-US" sz="1250" dirty="0">
                <a:solidFill>
                  <a:srgbClr val="555759"/>
                </a:solidFill>
                <a:latin typeface="Arial" pitchFamily="34" charset="0"/>
                <a:ea typeface="Arial" pitchFamily="34" charset="-122"/>
                <a:cs typeface="Arial" pitchFamily="34" charset="-120"/>
              </a:rPr>
              <a:t>Names and emails are in the data; the AI service is external.</a:t>
            </a:r>
            <a:endParaRPr lang="en-US" sz="1250" dirty="0"/>
          </a:p>
        </p:txBody>
      </p:sp>
      <p:sp>
        <p:nvSpPr>
          <p:cNvPr id="10" name="Text 7"/>
          <p:cNvSpPr/>
          <p:nvPr/>
        </p:nvSpPr>
        <p:spPr>
          <a:xfrm>
            <a:off x="777240" y="3611880"/>
            <a:ext cx="2110664" cy="868680"/>
          </a:xfrm>
          <a:prstGeom prst="rect">
            <a:avLst/>
          </a:prstGeom>
          <a:noFill/>
          <a:ln/>
        </p:spPr>
        <p:txBody>
          <a:bodyPr wrap="square" lIns="0" tIns="0" rIns="0" bIns="0" rtlCol="0" anchor="t"/>
          <a:lstStyle/>
          <a:p>
            <a:pPr indent="0" marL="0">
              <a:buNone/>
            </a:pPr>
            <a:r>
              <a:rPr lang="en-US" sz="1250" b="1" dirty="0">
                <a:solidFill>
                  <a:srgbClr val="255799"/>
                </a:solidFill>
                <a:latin typeface="Arial" pitchFamily="34" charset="0"/>
                <a:ea typeface="Arial" pitchFamily="34" charset="-122"/>
                <a:cs typeface="Arial" pitchFamily="34" charset="-120"/>
              </a:rPr>
              <a:t>The AI sees the schema, not rows. Sharing results needs two switches and sponsor approval.</a:t>
            </a:r>
            <a:endParaRPr lang="en-US" sz="1250" dirty="0"/>
          </a:p>
        </p:txBody>
      </p:sp>
      <p:sp>
        <p:nvSpPr>
          <p:cNvPr id="11" name="Shape 8"/>
          <p:cNvSpPr/>
          <p:nvPr/>
        </p:nvSpPr>
        <p:spPr>
          <a:xfrm>
            <a:off x="3390824" y="1463040"/>
            <a:ext cx="2567864" cy="3154680"/>
          </a:xfrm>
          <a:prstGeom prst="roundRect">
            <a:avLst>
              <a:gd name="adj" fmla="val 3561"/>
            </a:avLst>
          </a:prstGeom>
          <a:solidFill>
            <a:srgbClr val="F3F6FA"/>
          </a:solidFill>
          <a:ln w="12700">
            <a:solidFill>
              <a:srgbClr val="F3F6FA"/>
            </a:solidFill>
            <a:prstDash val="solid"/>
          </a:ln>
        </p:spPr>
      </p:sp>
      <p:sp>
        <p:nvSpPr>
          <p:cNvPr id="12" name="Shape 9"/>
          <p:cNvSpPr/>
          <p:nvPr/>
        </p:nvSpPr>
        <p:spPr>
          <a:xfrm>
            <a:off x="3619424" y="1691640"/>
            <a:ext cx="640080" cy="640080"/>
          </a:xfrm>
          <a:prstGeom prst="ellipse">
            <a:avLst/>
          </a:prstGeom>
          <a:solidFill>
            <a:srgbClr val="FECC07"/>
          </a:solidFill>
          <a:ln w="12700">
            <a:solidFill>
              <a:srgbClr val="FECC07"/>
            </a:solidFill>
            <a:prstDash val="solid"/>
          </a:ln>
        </p:spPr>
      </p:sp>
      <p:pic>
        <p:nvPicPr>
          <p:cNvPr id="13" name="Image 1" descr="preencoded.png">    </p:cNvPr>
          <p:cNvPicPr>
            <a:picLocks noChangeAspect="1"/>
          </p:cNvPicPr>
          <p:nvPr/>
        </p:nvPicPr>
        <p:blipFill>
          <a:blip r:embed="rId2"/>
          <a:stretch>
            <a:fillRect/>
          </a:stretch>
        </p:blipFill>
        <p:spPr>
          <a:xfrm>
            <a:off x="3760241" y="1832458"/>
            <a:ext cx="358445" cy="358445"/>
          </a:xfrm>
          <a:prstGeom prst="rect">
            <a:avLst/>
          </a:prstGeom>
        </p:spPr>
      </p:pic>
      <p:sp>
        <p:nvSpPr>
          <p:cNvPr id="14" name="Text 10"/>
          <p:cNvSpPr/>
          <p:nvPr/>
        </p:nvSpPr>
        <p:spPr>
          <a:xfrm>
            <a:off x="3619424" y="2468880"/>
            <a:ext cx="2110664" cy="365760"/>
          </a:xfrm>
          <a:prstGeom prst="rect">
            <a:avLst/>
          </a:prstGeom>
          <a:noFill/>
          <a:ln/>
        </p:spPr>
        <p:txBody>
          <a:bodyPr wrap="square" lIns="0" tIns="0" rIns="0" bIns="0" rtlCol="0" anchor="ctr"/>
          <a:lstStyle/>
          <a:p>
            <a:pPr indent="0" marL="0">
              <a:buNone/>
            </a:pPr>
            <a:r>
              <a:rPr lang="en-US" sz="1600" b="1" dirty="0">
                <a:solidFill>
                  <a:srgbClr val="002244"/>
                </a:solidFill>
                <a:latin typeface="Arial" pitchFamily="34" charset="0"/>
                <a:ea typeface="Arial" pitchFamily="34" charset="-122"/>
                <a:cs typeface="Arial" pitchFamily="34" charset="-120"/>
              </a:rPr>
              <a:t>Trusting AI answers</a:t>
            </a:r>
            <a:endParaRPr lang="en-US" sz="1600" dirty="0"/>
          </a:p>
        </p:txBody>
      </p:sp>
      <p:sp>
        <p:nvSpPr>
          <p:cNvPr id="15" name="Text 11"/>
          <p:cNvSpPr/>
          <p:nvPr/>
        </p:nvSpPr>
        <p:spPr>
          <a:xfrm>
            <a:off x="3619424" y="2880360"/>
            <a:ext cx="2110664" cy="685800"/>
          </a:xfrm>
          <a:prstGeom prst="rect">
            <a:avLst/>
          </a:prstGeom>
          <a:noFill/>
          <a:ln/>
        </p:spPr>
        <p:txBody>
          <a:bodyPr wrap="square" lIns="0" tIns="0" rIns="0" bIns="0" rtlCol="0" anchor="t"/>
          <a:lstStyle/>
          <a:p>
            <a:pPr indent="0" marL="0">
              <a:buNone/>
            </a:pPr>
            <a:r>
              <a:rPr lang="en-US" sz="1250" dirty="0">
                <a:solidFill>
                  <a:srgbClr val="555759"/>
                </a:solidFill>
                <a:latin typeface="Arial" pitchFamily="34" charset="0"/>
                <a:ea typeface="Arial" pitchFamily="34" charset="-122"/>
                <a:cs typeface="Arial" pitchFamily="34" charset="-120"/>
              </a:rPr>
              <a:t>An answer can look right and still be wrong.</a:t>
            </a:r>
            <a:endParaRPr lang="en-US" sz="1250" dirty="0"/>
          </a:p>
        </p:txBody>
      </p:sp>
      <p:sp>
        <p:nvSpPr>
          <p:cNvPr id="16" name="Text 12"/>
          <p:cNvSpPr/>
          <p:nvPr/>
        </p:nvSpPr>
        <p:spPr>
          <a:xfrm>
            <a:off x="3619424" y="3611880"/>
            <a:ext cx="2110664" cy="868680"/>
          </a:xfrm>
          <a:prstGeom prst="rect">
            <a:avLst/>
          </a:prstGeom>
          <a:noFill/>
          <a:ln/>
        </p:spPr>
        <p:txBody>
          <a:bodyPr wrap="square" lIns="0" tIns="0" rIns="0" bIns="0" rtlCol="0" anchor="t"/>
          <a:lstStyle/>
          <a:p>
            <a:pPr indent="0" marL="0">
              <a:buNone/>
            </a:pPr>
            <a:r>
              <a:rPr lang="en-US" sz="1250" b="1" dirty="0">
                <a:solidFill>
                  <a:srgbClr val="255799"/>
                </a:solidFill>
                <a:latin typeface="Arial" pitchFamily="34" charset="0"/>
                <a:ea typeface="Arial" pitchFamily="34" charset="-122"/>
                <a:cs typeface="Arial" pitchFamily="34" charset="-120"/>
              </a:rPr>
              <a:t>Every answer shows its SQL and table. The 30-question benchmark is re-run after each prompt change.</a:t>
            </a:r>
            <a:endParaRPr lang="en-US" sz="1250" dirty="0"/>
          </a:p>
        </p:txBody>
      </p:sp>
      <p:sp>
        <p:nvSpPr>
          <p:cNvPr id="17" name="Shape 13"/>
          <p:cNvSpPr/>
          <p:nvPr/>
        </p:nvSpPr>
        <p:spPr>
          <a:xfrm>
            <a:off x="6233008" y="1463040"/>
            <a:ext cx="2567864" cy="3154680"/>
          </a:xfrm>
          <a:prstGeom prst="roundRect">
            <a:avLst>
              <a:gd name="adj" fmla="val 3561"/>
            </a:avLst>
          </a:prstGeom>
          <a:solidFill>
            <a:srgbClr val="F3F6FA"/>
          </a:solidFill>
          <a:ln w="12700">
            <a:solidFill>
              <a:srgbClr val="F3F6FA"/>
            </a:solidFill>
            <a:prstDash val="solid"/>
          </a:ln>
        </p:spPr>
      </p:sp>
      <p:sp>
        <p:nvSpPr>
          <p:cNvPr id="18" name="Shape 14"/>
          <p:cNvSpPr/>
          <p:nvPr/>
        </p:nvSpPr>
        <p:spPr>
          <a:xfrm>
            <a:off x="6461608" y="1691640"/>
            <a:ext cx="640080" cy="640080"/>
          </a:xfrm>
          <a:prstGeom prst="ellipse">
            <a:avLst/>
          </a:prstGeom>
          <a:solidFill>
            <a:srgbClr val="FECC07"/>
          </a:solidFill>
          <a:ln w="12700">
            <a:solidFill>
              <a:srgbClr val="FECC07"/>
            </a:solidFill>
            <a:prstDash val="solid"/>
          </a:ln>
        </p:spPr>
      </p:sp>
      <p:pic>
        <p:nvPicPr>
          <p:cNvPr id="19" name="Image 2" descr="preencoded.png">    </p:cNvPr>
          <p:cNvPicPr>
            <a:picLocks noChangeAspect="1"/>
          </p:cNvPicPr>
          <p:nvPr/>
        </p:nvPicPr>
        <p:blipFill>
          <a:blip r:embed="rId3"/>
          <a:stretch>
            <a:fillRect/>
          </a:stretch>
        </p:blipFill>
        <p:spPr>
          <a:xfrm>
            <a:off x="6602425" y="1832458"/>
            <a:ext cx="358445" cy="358445"/>
          </a:xfrm>
          <a:prstGeom prst="rect">
            <a:avLst/>
          </a:prstGeom>
        </p:spPr>
      </p:pic>
      <p:sp>
        <p:nvSpPr>
          <p:cNvPr id="20" name="Text 15"/>
          <p:cNvSpPr/>
          <p:nvPr/>
        </p:nvSpPr>
        <p:spPr>
          <a:xfrm>
            <a:off x="6461608" y="2468880"/>
            <a:ext cx="2110664" cy="365760"/>
          </a:xfrm>
          <a:prstGeom prst="rect">
            <a:avLst/>
          </a:prstGeom>
          <a:noFill/>
          <a:ln/>
        </p:spPr>
        <p:txBody>
          <a:bodyPr wrap="square" lIns="0" tIns="0" rIns="0" bIns="0" rtlCol="0" anchor="ctr"/>
          <a:lstStyle/>
          <a:p>
            <a:pPr indent="0" marL="0">
              <a:buNone/>
            </a:pPr>
            <a:r>
              <a:rPr lang="en-US" sz="1600" b="1" dirty="0">
                <a:solidFill>
                  <a:srgbClr val="002244"/>
                </a:solidFill>
                <a:latin typeface="Arial" pitchFamily="34" charset="0"/>
                <a:ea typeface="Arial" pitchFamily="34" charset="-122"/>
                <a:cs typeface="Arial" pitchFamily="34" charset="-120"/>
              </a:rPr>
              <a:t>Double counting</a:t>
            </a:r>
            <a:endParaRPr lang="en-US" sz="1600" dirty="0"/>
          </a:p>
        </p:txBody>
      </p:sp>
      <p:sp>
        <p:nvSpPr>
          <p:cNvPr id="21" name="Text 16"/>
          <p:cNvSpPr/>
          <p:nvPr/>
        </p:nvSpPr>
        <p:spPr>
          <a:xfrm>
            <a:off x="6461608" y="2880360"/>
            <a:ext cx="2110664" cy="685800"/>
          </a:xfrm>
          <a:prstGeom prst="rect">
            <a:avLst/>
          </a:prstGeom>
          <a:noFill/>
          <a:ln/>
        </p:spPr>
        <p:txBody>
          <a:bodyPr wrap="square" lIns="0" tIns="0" rIns="0" bIns="0" rtlCol="0" anchor="t"/>
          <a:lstStyle/>
          <a:p>
            <a:pPr indent="0" marL="0">
              <a:buNone/>
            </a:pPr>
            <a:r>
              <a:rPr lang="en-US" sz="1250" dirty="0">
                <a:solidFill>
                  <a:srgbClr val="555759"/>
                </a:solidFill>
                <a:latin typeface="Arial" pitchFamily="34" charset="0"/>
                <a:ea typeface="Arial" pitchFamily="34" charset="-122"/>
                <a:cs typeface="Arial" pitchFamily="34" charset="-120"/>
              </a:rPr>
              <a:t>A second download of an event is saved as a new event.</a:t>
            </a:r>
            <a:endParaRPr lang="en-US" sz="1250" dirty="0"/>
          </a:p>
        </p:txBody>
      </p:sp>
      <p:sp>
        <p:nvSpPr>
          <p:cNvPr id="22" name="Text 17"/>
          <p:cNvSpPr/>
          <p:nvPr/>
        </p:nvSpPr>
        <p:spPr>
          <a:xfrm>
            <a:off x="6461608" y="3611880"/>
            <a:ext cx="2110664" cy="868680"/>
          </a:xfrm>
          <a:prstGeom prst="rect">
            <a:avLst/>
          </a:prstGeom>
          <a:noFill/>
          <a:ln/>
        </p:spPr>
        <p:txBody>
          <a:bodyPr wrap="square" lIns="0" tIns="0" rIns="0" bIns="0" rtlCol="0" anchor="t"/>
          <a:lstStyle/>
          <a:p>
            <a:pPr indent="0" marL="0">
              <a:buNone/>
            </a:pPr>
            <a:r>
              <a:rPr lang="en-US" sz="1250" b="1" dirty="0">
                <a:solidFill>
                  <a:srgbClr val="255799"/>
                </a:solidFill>
                <a:latin typeface="Arial" pitchFamily="34" charset="0"/>
                <a:ea typeface="Arial" pitchFamily="34" charset="-122"/>
                <a:cs typeface="Arial" pitchFamily="34" charset="-120"/>
              </a:rPr>
              <a:t>Found in the sponsor walkthrough. It is the first fix in Sprint 2.</a:t>
            </a:r>
            <a:endParaRPr lang="en-US" sz="1250" dirty="0"/>
          </a:p>
        </p:txBody>
      </p:sp>
      <p:sp>
        <p:nvSpPr>
          <p:cNvPr id="23" name="Shape 18"/>
          <p:cNvSpPr/>
          <p:nvPr/>
        </p:nvSpPr>
        <p:spPr>
          <a:xfrm>
            <a:off x="9075191" y="1463040"/>
            <a:ext cx="2567864" cy="3154680"/>
          </a:xfrm>
          <a:prstGeom prst="roundRect">
            <a:avLst>
              <a:gd name="adj" fmla="val 3561"/>
            </a:avLst>
          </a:prstGeom>
          <a:solidFill>
            <a:srgbClr val="F3F6FA"/>
          </a:solidFill>
          <a:ln w="12700">
            <a:solidFill>
              <a:srgbClr val="F3F6FA"/>
            </a:solidFill>
            <a:prstDash val="solid"/>
          </a:ln>
        </p:spPr>
      </p:sp>
      <p:sp>
        <p:nvSpPr>
          <p:cNvPr id="24" name="Shape 19"/>
          <p:cNvSpPr/>
          <p:nvPr/>
        </p:nvSpPr>
        <p:spPr>
          <a:xfrm>
            <a:off x="9303791" y="1691640"/>
            <a:ext cx="640080" cy="640080"/>
          </a:xfrm>
          <a:prstGeom prst="ellipse">
            <a:avLst/>
          </a:prstGeom>
          <a:solidFill>
            <a:srgbClr val="FECC07"/>
          </a:solidFill>
          <a:ln w="12700">
            <a:solidFill>
              <a:srgbClr val="FECC07"/>
            </a:solidFill>
            <a:prstDash val="solid"/>
          </a:ln>
        </p:spPr>
      </p:sp>
      <p:pic>
        <p:nvPicPr>
          <p:cNvPr id="25" name="Image 3" descr="preencoded.png">    </p:cNvPr>
          <p:cNvPicPr>
            <a:picLocks noChangeAspect="1"/>
          </p:cNvPicPr>
          <p:nvPr/>
        </p:nvPicPr>
        <p:blipFill>
          <a:blip r:embed="rId4"/>
          <a:stretch>
            <a:fillRect/>
          </a:stretch>
        </p:blipFill>
        <p:spPr>
          <a:xfrm>
            <a:off x="9444609" y="1832458"/>
            <a:ext cx="358445" cy="358445"/>
          </a:xfrm>
          <a:prstGeom prst="rect">
            <a:avLst/>
          </a:prstGeom>
        </p:spPr>
      </p:pic>
      <p:sp>
        <p:nvSpPr>
          <p:cNvPr id="26" name="Text 20"/>
          <p:cNvSpPr/>
          <p:nvPr/>
        </p:nvSpPr>
        <p:spPr>
          <a:xfrm>
            <a:off x="9303791" y="2468880"/>
            <a:ext cx="2110664" cy="365760"/>
          </a:xfrm>
          <a:prstGeom prst="rect">
            <a:avLst/>
          </a:prstGeom>
          <a:noFill/>
          <a:ln/>
        </p:spPr>
        <p:txBody>
          <a:bodyPr wrap="square" lIns="0" tIns="0" rIns="0" bIns="0" rtlCol="0" anchor="ctr"/>
          <a:lstStyle/>
          <a:p>
            <a:pPr indent="0" marL="0">
              <a:buNone/>
            </a:pPr>
            <a:r>
              <a:rPr lang="en-US" sz="1600" b="1" dirty="0">
                <a:solidFill>
                  <a:srgbClr val="002244"/>
                </a:solidFill>
                <a:latin typeface="Arial" pitchFamily="34" charset="0"/>
                <a:ea typeface="Arial" pitchFamily="34" charset="-122"/>
                <a:cs typeface="Arial" pitchFamily="34" charset="-120"/>
              </a:rPr>
              <a:t>Changing scope</a:t>
            </a:r>
            <a:endParaRPr lang="en-US" sz="1600" dirty="0"/>
          </a:p>
        </p:txBody>
      </p:sp>
      <p:sp>
        <p:nvSpPr>
          <p:cNvPr id="27" name="Text 21"/>
          <p:cNvSpPr/>
          <p:nvPr/>
        </p:nvSpPr>
        <p:spPr>
          <a:xfrm>
            <a:off x="9303791" y="2880360"/>
            <a:ext cx="2110664" cy="685800"/>
          </a:xfrm>
          <a:prstGeom prst="rect">
            <a:avLst/>
          </a:prstGeom>
          <a:noFill/>
          <a:ln/>
        </p:spPr>
        <p:txBody>
          <a:bodyPr wrap="square" lIns="0" tIns="0" rIns="0" bIns="0" rtlCol="0" anchor="t"/>
          <a:lstStyle/>
          <a:p>
            <a:pPr indent="0" marL="0">
              <a:buNone/>
            </a:pPr>
            <a:r>
              <a:rPr lang="en-US" sz="1250" dirty="0">
                <a:solidFill>
                  <a:srgbClr val="555759"/>
                </a:solidFill>
                <a:latin typeface="Arial" pitchFamily="34" charset="0"/>
                <a:ea typeface="Arial" pitchFamily="34" charset="-122"/>
                <a:cs typeface="Arial" pitchFamily="34" charset="-120"/>
              </a:rPr>
              <a:t>Scope narrowed twice; some decisions wait on the sponsor.</a:t>
            </a:r>
            <a:endParaRPr lang="en-US" sz="1250" dirty="0"/>
          </a:p>
        </p:txBody>
      </p:sp>
      <p:sp>
        <p:nvSpPr>
          <p:cNvPr id="28" name="Text 22"/>
          <p:cNvSpPr/>
          <p:nvPr/>
        </p:nvSpPr>
        <p:spPr>
          <a:xfrm>
            <a:off x="9303791" y="3611880"/>
            <a:ext cx="2110664" cy="868680"/>
          </a:xfrm>
          <a:prstGeom prst="rect">
            <a:avLst/>
          </a:prstGeom>
          <a:noFill/>
          <a:ln/>
        </p:spPr>
        <p:txBody>
          <a:bodyPr wrap="square" lIns="0" tIns="0" rIns="0" bIns="0" rtlCol="0" anchor="t"/>
          <a:lstStyle/>
          <a:p>
            <a:pPr indent="0" marL="0">
              <a:buNone/>
            </a:pPr>
            <a:r>
              <a:rPr lang="en-US" sz="1250" b="1" dirty="0">
                <a:solidFill>
                  <a:srgbClr val="255799"/>
                </a:solidFill>
                <a:latin typeface="Arial" pitchFamily="34" charset="0"/>
                <a:ea typeface="Arial" pitchFamily="34" charset="-122"/>
                <a:cs typeface="Arial" pitchFamily="34" charset="-120"/>
              </a:rPr>
              <a:t>Metrics confirmed early. Open questions are batched for the Sprint 2 demo.</a:t>
            </a:r>
            <a:endParaRPr lang="en-US" sz="1250" dirty="0"/>
          </a:p>
        </p:txBody>
      </p:sp>
      <p:sp>
        <p:nvSpPr>
          <p:cNvPr id="29" name="Shape 23"/>
          <p:cNvSpPr/>
          <p:nvPr/>
        </p:nvSpPr>
        <p:spPr>
          <a:xfrm>
            <a:off x="548640" y="4892040"/>
            <a:ext cx="11094415" cy="1371600"/>
          </a:xfrm>
          <a:prstGeom prst="roundRect">
            <a:avLst>
              <a:gd name="adj" fmla="val 6667"/>
            </a:avLst>
          </a:prstGeom>
          <a:solidFill>
            <a:srgbClr val="1B3D6D"/>
          </a:solidFill>
          <a:ln w="12700">
            <a:solidFill>
              <a:srgbClr val="1B3D6D"/>
            </a:solidFill>
            <a:prstDash val="solid"/>
          </a:ln>
        </p:spPr>
      </p:sp>
      <p:sp>
        <p:nvSpPr>
          <p:cNvPr id="30" name="Text 24"/>
          <p:cNvSpPr/>
          <p:nvPr/>
        </p:nvSpPr>
        <p:spPr>
          <a:xfrm>
            <a:off x="868680" y="5029200"/>
            <a:ext cx="3657600" cy="274320"/>
          </a:xfrm>
          <a:prstGeom prst="rect">
            <a:avLst/>
          </a:prstGeom>
          <a:noFill/>
          <a:ln/>
        </p:spPr>
        <p:txBody>
          <a:bodyPr wrap="square" lIns="0" tIns="0" rIns="0" bIns="0" rtlCol="0" anchor="ctr"/>
          <a:lstStyle/>
          <a:p>
            <a:pPr indent="0" marL="0">
              <a:buNone/>
            </a:pPr>
            <a:r>
              <a:rPr lang="en-US" sz="1100" b="1" spc="200" kern="0" dirty="0">
                <a:solidFill>
                  <a:srgbClr val="FECC07"/>
                </a:solidFill>
                <a:latin typeface="Arial" pitchFamily="34" charset="0"/>
                <a:ea typeface="Arial" pitchFamily="34" charset="-122"/>
                <a:cs typeface="Arial" pitchFamily="34" charset="-120"/>
              </a:rPr>
              <a:t>LESSONS LEARNED</a:t>
            </a:r>
            <a:endParaRPr lang="en-US" sz="1100" dirty="0"/>
          </a:p>
        </p:txBody>
      </p:sp>
      <p:sp>
        <p:nvSpPr>
          <p:cNvPr id="31" name="Shape 25"/>
          <p:cNvSpPr/>
          <p:nvPr/>
        </p:nvSpPr>
        <p:spPr>
          <a:xfrm>
            <a:off x="868680" y="5456682"/>
            <a:ext cx="82296" cy="82296"/>
          </a:xfrm>
          <a:prstGeom prst="ellipse">
            <a:avLst/>
          </a:prstGeom>
          <a:solidFill>
            <a:srgbClr val="FECC07"/>
          </a:solidFill>
          <a:ln w="12700">
            <a:solidFill>
              <a:srgbClr val="FECC07"/>
            </a:solidFill>
            <a:prstDash val="solid"/>
          </a:ln>
        </p:spPr>
      </p:sp>
      <p:sp>
        <p:nvSpPr>
          <p:cNvPr id="32" name="Text 26"/>
          <p:cNvSpPr/>
          <p:nvPr/>
        </p:nvSpPr>
        <p:spPr>
          <a:xfrm>
            <a:off x="1097280" y="5376672"/>
            <a:ext cx="10225735" cy="384048"/>
          </a:xfrm>
          <a:prstGeom prst="rect">
            <a:avLst/>
          </a:prstGeom>
          <a:noFill/>
          <a:ln/>
        </p:spPr>
        <p:txBody>
          <a:bodyPr wrap="square" lIns="0" tIns="0" rIns="0" bIns="0" rtlCol="0" anchor="t"/>
          <a:lstStyle/>
          <a:p>
            <a:pPr indent="0" marL="0">
              <a:buNone/>
            </a:pPr>
            <a:r>
              <a:rPr lang="en-US" sz="1500" dirty="0">
                <a:solidFill>
                  <a:srgbClr val="FFFFFF"/>
                </a:solidFill>
                <a:latin typeface="Arial" pitchFamily="34" charset="0"/>
                <a:ea typeface="Arial" pitchFamily="34" charset="-122"/>
                <a:cs typeface="Arial" pitchFamily="34" charset="-120"/>
              </a:rPr>
              <a:t>With AI-assisted coding, the bottleneck is verification and sponsor decisions, not code.</a:t>
            </a:r>
            <a:endParaRPr lang="en-US" sz="1500" dirty="0"/>
          </a:p>
        </p:txBody>
      </p:sp>
      <p:sp>
        <p:nvSpPr>
          <p:cNvPr id="33" name="Shape 27"/>
          <p:cNvSpPr/>
          <p:nvPr/>
        </p:nvSpPr>
        <p:spPr>
          <a:xfrm>
            <a:off x="868680" y="5840730"/>
            <a:ext cx="82296" cy="82296"/>
          </a:xfrm>
          <a:prstGeom prst="ellipse">
            <a:avLst/>
          </a:prstGeom>
          <a:solidFill>
            <a:srgbClr val="FECC07"/>
          </a:solidFill>
          <a:ln w="12700">
            <a:solidFill>
              <a:srgbClr val="FECC07"/>
            </a:solidFill>
            <a:prstDash val="solid"/>
          </a:ln>
        </p:spPr>
      </p:sp>
      <p:sp>
        <p:nvSpPr>
          <p:cNvPr id="34" name="Text 28"/>
          <p:cNvSpPr/>
          <p:nvPr/>
        </p:nvSpPr>
        <p:spPr>
          <a:xfrm>
            <a:off x="1097280" y="5760720"/>
            <a:ext cx="10225735" cy="384048"/>
          </a:xfrm>
          <a:prstGeom prst="rect">
            <a:avLst/>
          </a:prstGeom>
          <a:noFill/>
          <a:ln/>
        </p:spPr>
        <p:txBody>
          <a:bodyPr wrap="square" lIns="0" tIns="0" rIns="0" bIns="0" rtlCol="0" anchor="t"/>
          <a:lstStyle/>
          <a:p>
            <a:pPr indent="0" marL="0">
              <a:buNone/>
            </a:pPr>
            <a:r>
              <a:rPr lang="en-US" sz="1500" dirty="0">
                <a:solidFill>
                  <a:srgbClr val="FFFFFF"/>
                </a:solidFill>
                <a:latin typeface="Arial" pitchFamily="34" charset="0"/>
                <a:ea typeface="Arial" pitchFamily="34" charset="-122"/>
                <a:cs typeface="Arial" pitchFamily="34" charset="-120"/>
              </a:rPr>
              <a:t>Walking the sponsor's real requests found a bug that over 1,100 automated tests missed.</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8229600" cy="274320"/>
          </a:xfrm>
          <a:prstGeom prst="rect">
            <a:avLst/>
          </a:prstGeom>
          <a:noFill/>
          <a:ln/>
        </p:spPr>
        <p:txBody>
          <a:bodyPr wrap="square" lIns="0" tIns="0" rIns="0" bIns="0" rtlCol="0" anchor="ctr"/>
          <a:lstStyle/>
          <a:p>
            <a:pPr indent="0" marL="0">
              <a:buNone/>
            </a:pPr>
            <a:r>
              <a:rPr lang="en-US" sz="1200" b="1" spc="200" kern="0" dirty="0">
                <a:solidFill>
                  <a:srgbClr val="255799"/>
                </a:solidFill>
                <a:latin typeface="Arial" pitchFamily="34" charset="0"/>
                <a:ea typeface="Arial" pitchFamily="34" charset="-122"/>
                <a:cs typeface="Arial" pitchFamily="34" charset="-120"/>
              </a:rPr>
              <a:t>NEXT STEPS &amp; TIMELINE</a:t>
            </a:r>
            <a:endParaRPr lang="en-US" sz="1200" dirty="0"/>
          </a:p>
        </p:txBody>
      </p:sp>
      <p:sp>
        <p:nvSpPr>
          <p:cNvPr id="3" name="Text 1"/>
          <p:cNvSpPr/>
          <p:nvPr/>
        </p:nvSpPr>
        <p:spPr>
          <a:xfrm>
            <a:off x="548640" y="621792"/>
            <a:ext cx="11094415" cy="640080"/>
          </a:xfrm>
          <a:prstGeom prst="rect">
            <a:avLst/>
          </a:prstGeom>
          <a:noFill/>
          <a:ln/>
        </p:spPr>
        <p:txBody>
          <a:bodyPr wrap="square" lIns="0" tIns="0" rIns="0" bIns="0" rtlCol="0" anchor="ctr"/>
          <a:lstStyle/>
          <a:p>
            <a:pPr indent="0" marL="0">
              <a:buNone/>
            </a:pPr>
            <a:r>
              <a:rPr lang="en-US" sz="3000" b="1" dirty="0">
                <a:solidFill>
                  <a:srgbClr val="1B3D6D"/>
                </a:solidFill>
                <a:latin typeface="Arial" pitchFamily="34" charset="0"/>
                <a:ea typeface="Arial" pitchFamily="34" charset="-122"/>
                <a:cs typeface="Arial" pitchFamily="34" charset="-120"/>
              </a:rPr>
              <a:t>Next: sponsor demo and fixes, then handoff by December 4</a:t>
            </a:r>
            <a:endParaRPr lang="en-US" sz="3000" dirty="0"/>
          </a:p>
        </p:txBody>
      </p:sp>
      <p:sp>
        <p:nvSpPr>
          <p:cNvPr id="4" name="Text 2"/>
          <p:cNvSpPr/>
          <p:nvPr/>
        </p:nvSpPr>
        <p:spPr>
          <a:xfrm>
            <a:off x="11185855" y="6400800"/>
            <a:ext cx="457200" cy="274320"/>
          </a:xfrm>
          <a:prstGeom prst="rect">
            <a:avLst/>
          </a:prstGeom>
          <a:noFill/>
          <a:ln/>
        </p:spPr>
        <p:txBody>
          <a:bodyPr wrap="square" lIns="0" tIns="0" rIns="0" bIns="0" rtlCol="0" anchor="ctr"/>
          <a:lstStyle/>
          <a:p>
            <a:pPr algn="r" indent="0" marL="0">
              <a:buNone/>
            </a:pPr>
            <a:r>
              <a:rPr lang="en-US" sz="1000" dirty="0">
                <a:solidFill>
                  <a:srgbClr val="7B8FAE"/>
                </a:solidFill>
                <a:latin typeface="Arial" pitchFamily="34" charset="0"/>
                <a:ea typeface="Arial" pitchFamily="34" charset="-122"/>
                <a:cs typeface="Arial" pitchFamily="34" charset="-120"/>
              </a:rPr>
              <a:t>6</a:t>
            </a:r>
            <a:endParaRPr lang="en-US" sz="1000" dirty="0"/>
          </a:p>
        </p:txBody>
      </p:sp>
      <p:sp>
        <p:nvSpPr>
          <p:cNvPr id="5" name="Shape 3"/>
          <p:cNvSpPr/>
          <p:nvPr/>
        </p:nvSpPr>
        <p:spPr>
          <a:xfrm>
            <a:off x="548640" y="1463040"/>
            <a:ext cx="2636444" cy="777240"/>
          </a:xfrm>
          <a:prstGeom prst="roundRect">
            <a:avLst>
              <a:gd name="adj" fmla="val 9412"/>
            </a:avLst>
          </a:prstGeom>
          <a:solidFill>
            <a:srgbClr val="E4ECF6"/>
          </a:solidFill>
          <a:ln w="12700">
            <a:solidFill>
              <a:srgbClr val="E4ECF6"/>
            </a:solidFill>
            <a:prstDash val="solid"/>
          </a:ln>
        </p:spPr>
      </p:sp>
      <p:sp>
        <p:nvSpPr>
          <p:cNvPr id="6" name="Text 4"/>
          <p:cNvSpPr/>
          <p:nvPr/>
        </p:nvSpPr>
        <p:spPr>
          <a:xfrm>
            <a:off x="731520" y="1463040"/>
            <a:ext cx="2362124" cy="777240"/>
          </a:xfrm>
          <a:prstGeom prst="rect">
            <a:avLst/>
          </a:prstGeom>
          <a:noFill/>
          <a:ln/>
        </p:spPr>
        <p:txBody>
          <a:bodyPr wrap="square" lIns="0" tIns="0" rIns="0" bIns="0" rtlCol="0" anchor="ctr"/>
          <a:lstStyle/>
          <a:p>
            <a:pPr indent="0" marL="0">
              <a:buNone/>
            </a:pPr>
            <a:r>
              <a:rPr lang="en-US" sz="1500" b="1" dirty="0">
                <a:solidFill>
                  <a:srgbClr val="002244"/>
                </a:solidFill>
                <a:latin typeface="Arial" pitchFamily="34" charset="0"/>
                <a:ea typeface="Arial" pitchFamily="34" charset="-122"/>
                <a:cs typeface="Arial" pitchFamily="34" charset="-120"/>
              </a:rPr>
              <a:t>Sprint 0  ·  Done</a:t>
            </a:r>
            <a:endParaRPr lang="en-US" sz="1500" dirty="0"/>
          </a:p>
          <a:p>
            <a:pPr indent="0" marL="0">
              <a:buNone/>
            </a:pPr>
            <a:r>
              <a:rPr lang="en-US" sz="1200" dirty="0">
                <a:solidFill>
                  <a:srgbClr val="002244"/>
                </a:solidFill>
                <a:latin typeface="Arial" pitchFamily="34" charset="0"/>
                <a:ea typeface="Arial" pitchFamily="34" charset="-122"/>
                <a:cs typeface="Arial" pitchFamily="34" charset="-120"/>
              </a:rPr>
              <a:t>Sep 24 – Oct 19</a:t>
            </a:r>
            <a:endParaRPr lang="en-US" sz="1500" dirty="0"/>
          </a:p>
        </p:txBody>
      </p:sp>
      <p:sp>
        <p:nvSpPr>
          <p:cNvPr id="7" name="Shape 5"/>
          <p:cNvSpPr/>
          <p:nvPr/>
        </p:nvSpPr>
        <p:spPr>
          <a:xfrm>
            <a:off x="640080" y="2492502"/>
            <a:ext cx="82296" cy="82296"/>
          </a:xfrm>
          <a:prstGeom prst="ellipse">
            <a:avLst/>
          </a:prstGeom>
          <a:solidFill>
            <a:srgbClr val="255799"/>
          </a:solidFill>
          <a:ln w="12700">
            <a:solidFill>
              <a:srgbClr val="255799"/>
            </a:solidFill>
            <a:prstDash val="solid"/>
          </a:ln>
        </p:spPr>
      </p:sp>
      <p:sp>
        <p:nvSpPr>
          <p:cNvPr id="8" name="Text 6"/>
          <p:cNvSpPr/>
          <p:nvPr/>
        </p:nvSpPr>
        <p:spPr>
          <a:xfrm>
            <a:off x="868680" y="2423160"/>
            <a:ext cx="2270684" cy="548640"/>
          </a:xfrm>
          <a:prstGeom prst="rect">
            <a:avLst/>
          </a:prstGeom>
          <a:noFill/>
          <a:ln/>
        </p:spPr>
        <p:txBody>
          <a:bodyPr wrap="square" lIns="0" tIns="0" rIns="0" bIns="0" rtlCol="0" anchor="t"/>
          <a:lstStyle/>
          <a:p>
            <a:pPr indent="0" marL="0">
              <a:buNone/>
            </a:pPr>
            <a:r>
              <a:rPr lang="en-US" sz="1300" dirty="0">
                <a:solidFill>
                  <a:srgbClr val="002244"/>
                </a:solidFill>
                <a:latin typeface="Arial" pitchFamily="34" charset="0"/>
                <a:ea typeface="Arial" pitchFamily="34" charset="-122"/>
                <a:cs typeface="Arial" pitchFamily="34" charset="-120"/>
              </a:rPr>
              <a:t>Sponsor meetings</a:t>
            </a:r>
            <a:endParaRPr lang="en-US" sz="1300" dirty="0"/>
          </a:p>
        </p:txBody>
      </p:sp>
      <p:sp>
        <p:nvSpPr>
          <p:cNvPr id="9" name="Shape 7"/>
          <p:cNvSpPr/>
          <p:nvPr/>
        </p:nvSpPr>
        <p:spPr>
          <a:xfrm>
            <a:off x="640080" y="3041142"/>
            <a:ext cx="82296" cy="82296"/>
          </a:xfrm>
          <a:prstGeom prst="ellipse">
            <a:avLst/>
          </a:prstGeom>
          <a:solidFill>
            <a:srgbClr val="255799"/>
          </a:solidFill>
          <a:ln w="12700">
            <a:solidFill>
              <a:srgbClr val="255799"/>
            </a:solidFill>
            <a:prstDash val="solid"/>
          </a:ln>
        </p:spPr>
      </p:sp>
      <p:sp>
        <p:nvSpPr>
          <p:cNvPr id="10" name="Text 8"/>
          <p:cNvSpPr/>
          <p:nvPr/>
        </p:nvSpPr>
        <p:spPr>
          <a:xfrm>
            <a:off x="868680" y="2971800"/>
            <a:ext cx="2270684" cy="548640"/>
          </a:xfrm>
          <a:prstGeom prst="rect">
            <a:avLst/>
          </a:prstGeom>
          <a:noFill/>
          <a:ln/>
        </p:spPr>
        <p:txBody>
          <a:bodyPr wrap="square" lIns="0" tIns="0" rIns="0" bIns="0" rtlCol="0" anchor="t"/>
          <a:lstStyle/>
          <a:p>
            <a:pPr indent="0" marL="0">
              <a:buNone/>
            </a:pPr>
            <a:r>
              <a:rPr lang="en-US" sz="1300" dirty="0">
                <a:solidFill>
                  <a:srgbClr val="002244"/>
                </a:solidFill>
                <a:latin typeface="Arial" pitchFamily="34" charset="0"/>
                <a:ea typeface="Arial" pitchFamily="34" charset="-122"/>
                <a:cs typeface="Arial" pitchFamily="34" charset="-120"/>
              </a:rPr>
              <a:t>Scope, MOV, business case, charter</a:t>
            </a:r>
            <a:endParaRPr lang="en-US" sz="1300" dirty="0"/>
          </a:p>
        </p:txBody>
      </p:sp>
      <p:sp>
        <p:nvSpPr>
          <p:cNvPr id="11" name="Shape 9"/>
          <p:cNvSpPr/>
          <p:nvPr/>
        </p:nvSpPr>
        <p:spPr>
          <a:xfrm>
            <a:off x="3367964" y="1463040"/>
            <a:ext cx="2636444" cy="777240"/>
          </a:xfrm>
          <a:prstGeom prst="roundRect">
            <a:avLst>
              <a:gd name="adj" fmla="val 9412"/>
            </a:avLst>
          </a:prstGeom>
          <a:solidFill>
            <a:srgbClr val="FECC07"/>
          </a:solidFill>
          <a:ln w="12700">
            <a:solidFill>
              <a:srgbClr val="FECC07"/>
            </a:solidFill>
            <a:prstDash val="solid"/>
          </a:ln>
        </p:spPr>
      </p:sp>
      <p:sp>
        <p:nvSpPr>
          <p:cNvPr id="12" name="Text 10"/>
          <p:cNvSpPr/>
          <p:nvPr/>
        </p:nvSpPr>
        <p:spPr>
          <a:xfrm>
            <a:off x="3550844" y="1463040"/>
            <a:ext cx="2362124" cy="777240"/>
          </a:xfrm>
          <a:prstGeom prst="rect">
            <a:avLst/>
          </a:prstGeom>
          <a:noFill/>
          <a:ln/>
        </p:spPr>
        <p:txBody>
          <a:bodyPr wrap="square" lIns="0" tIns="0" rIns="0" bIns="0" rtlCol="0" anchor="ctr"/>
          <a:lstStyle/>
          <a:p>
            <a:pPr indent="0" marL="0">
              <a:buNone/>
            </a:pPr>
            <a:r>
              <a:rPr lang="en-US" sz="1500" b="1" dirty="0">
                <a:solidFill>
                  <a:srgbClr val="002244"/>
                </a:solidFill>
                <a:latin typeface="Arial" pitchFamily="34" charset="0"/>
                <a:ea typeface="Arial" pitchFamily="34" charset="-122"/>
                <a:cs typeface="Arial" pitchFamily="34" charset="-120"/>
              </a:rPr>
              <a:t>Sprint 1  ·  Now</a:t>
            </a:r>
            <a:endParaRPr lang="en-US" sz="1500" dirty="0"/>
          </a:p>
          <a:p>
            <a:pPr indent="0" marL="0">
              <a:buNone/>
            </a:pPr>
            <a:r>
              <a:rPr lang="en-US" sz="1200" dirty="0">
                <a:solidFill>
                  <a:srgbClr val="002244"/>
                </a:solidFill>
                <a:latin typeface="Arial" pitchFamily="34" charset="0"/>
                <a:ea typeface="Arial" pitchFamily="34" charset="-122"/>
                <a:cs typeface="Arial" pitchFamily="34" charset="-120"/>
              </a:rPr>
              <a:t>Oct 20 – Nov 2</a:t>
            </a:r>
            <a:endParaRPr lang="en-US" sz="1500" dirty="0"/>
          </a:p>
        </p:txBody>
      </p:sp>
      <p:sp>
        <p:nvSpPr>
          <p:cNvPr id="13" name="Shape 11"/>
          <p:cNvSpPr/>
          <p:nvPr/>
        </p:nvSpPr>
        <p:spPr>
          <a:xfrm>
            <a:off x="3459404" y="2492502"/>
            <a:ext cx="82296" cy="82296"/>
          </a:xfrm>
          <a:prstGeom prst="ellipse">
            <a:avLst/>
          </a:prstGeom>
          <a:solidFill>
            <a:srgbClr val="255799"/>
          </a:solidFill>
          <a:ln w="12700">
            <a:solidFill>
              <a:srgbClr val="255799"/>
            </a:solidFill>
            <a:prstDash val="solid"/>
          </a:ln>
        </p:spPr>
      </p:sp>
      <p:sp>
        <p:nvSpPr>
          <p:cNvPr id="14" name="Text 12"/>
          <p:cNvSpPr/>
          <p:nvPr/>
        </p:nvSpPr>
        <p:spPr>
          <a:xfrm>
            <a:off x="3688004" y="2423160"/>
            <a:ext cx="2270684" cy="548640"/>
          </a:xfrm>
          <a:prstGeom prst="rect">
            <a:avLst/>
          </a:prstGeom>
          <a:noFill/>
          <a:ln/>
        </p:spPr>
        <p:txBody>
          <a:bodyPr wrap="square" lIns="0" tIns="0" rIns="0" bIns="0" rtlCol="0" anchor="t"/>
          <a:lstStyle/>
          <a:p>
            <a:pPr indent="0" marL="0">
              <a:buNone/>
            </a:pPr>
            <a:r>
              <a:rPr lang="en-US" sz="1300" dirty="0">
                <a:solidFill>
                  <a:srgbClr val="002244"/>
                </a:solidFill>
                <a:latin typeface="Arial" pitchFamily="34" charset="0"/>
                <a:ea typeface="Arial" pitchFamily="34" charset="-122"/>
                <a:cs typeface="Arial" pitchFamily="34" charset="-120"/>
              </a:rPr>
              <a:t>MVP built and tested</a:t>
            </a:r>
            <a:endParaRPr lang="en-US" sz="1300" dirty="0"/>
          </a:p>
        </p:txBody>
      </p:sp>
      <p:sp>
        <p:nvSpPr>
          <p:cNvPr id="15" name="Shape 13"/>
          <p:cNvSpPr/>
          <p:nvPr/>
        </p:nvSpPr>
        <p:spPr>
          <a:xfrm>
            <a:off x="3459404" y="3041142"/>
            <a:ext cx="82296" cy="82296"/>
          </a:xfrm>
          <a:prstGeom prst="ellipse">
            <a:avLst/>
          </a:prstGeom>
          <a:solidFill>
            <a:srgbClr val="255799"/>
          </a:solidFill>
          <a:ln w="12700">
            <a:solidFill>
              <a:srgbClr val="255799"/>
            </a:solidFill>
            <a:prstDash val="solid"/>
          </a:ln>
        </p:spPr>
      </p:sp>
      <p:sp>
        <p:nvSpPr>
          <p:cNvPr id="16" name="Text 14"/>
          <p:cNvSpPr/>
          <p:nvPr/>
        </p:nvSpPr>
        <p:spPr>
          <a:xfrm>
            <a:off x="3688004" y="2971800"/>
            <a:ext cx="2270684" cy="548640"/>
          </a:xfrm>
          <a:prstGeom prst="rect">
            <a:avLst/>
          </a:prstGeom>
          <a:noFill/>
          <a:ln/>
        </p:spPr>
        <p:txBody>
          <a:bodyPr wrap="square" lIns="0" tIns="0" rIns="0" bIns="0" rtlCol="0" anchor="t"/>
          <a:lstStyle/>
          <a:p>
            <a:pPr indent="0" marL="0">
              <a:buNone/>
            </a:pPr>
            <a:r>
              <a:rPr lang="en-US" sz="1300" dirty="0">
                <a:solidFill>
                  <a:srgbClr val="002244"/>
                </a:solidFill>
                <a:latin typeface="Arial" pitchFamily="34" charset="0"/>
                <a:ea typeface="Arial" pitchFamily="34" charset="-122"/>
                <a:cs typeface="Arial" pitchFamily="34" charset="-120"/>
              </a:rPr>
              <a:t>ZotGPT check; Oct 28 sponsor meeting</a:t>
            </a:r>
            <a:endParaRPr lang="en-US" sz="1300" dirty="0"/>
          </a:p>
        </p:txBody>
      </p:sp>
      <p:sp>
        <p:nvSpPr>
          <p:cNvPr id="17" name="Shape 15"/>
          <p:cNvSpPr/>
          <p:nvPr/>
        </p:nvSpPr>
        <p:spPr>
          <a:xfrm>
            <a:off x="3459404" y="3589782"/>
            <a:ext cx="82296" cy="82296"/>
          </a:xfrm>
          <a:prstGeom prst="ellipse">
            <a:avLst/>
          </a:prstGeom>
          <a:solidFill>
            <a:srgbClr val="255799"/>
          </a:solidFill>
          <a:ln w="12700">
            <a:solidFill>
              <a:srgbClr val="255799"/>
            </a:solidFill>
            <a:prstDash val="solid"/>
          </a:ln>
        </p:spPr>
      </p:sp>
      <p:sp>
        <p:nvSpPr>
          <p:cNvPr id="18" name="Text 16"/>
          <p:cNvSpPr/>
          <p:nvPr/>
        </p:nvSpPr>
        <p:spPr>
          <a:xfrm>
            <a:off x="3688004" y="3520440"/>
            <a:ext cx="2270684" cy="548640"/>
          </a:xfrm>
          <a:prstGeom prst="rect">
            <a:avLst/>
          </a:prstGeom>
          <a:noFill/>
          <a:ln/>
        </p:spPr>
        <p:txBody>
          <a:bodyPr wrap="square" lIns="0" tIns="0" rIns="0" bIns="0" rtlCol="0" anchor="t"/>
          <a:lstStyle/>
          <a:p>
            <a:pPr indent="0" marL="0">
              <a:buNone/>
            </a:pPr>
            <a:r>
              <a:rPr lang="en-US" sz="1300" dirty="0">
                <a:solidFill>
                  <a:srgbClr val="002244"/>
                </a:solidFill>
                <a:latin typeface="Arial" pitchFamily="34" charset="0"/>
                <a:ea typeface="Arial" pitchFamily="34" charset="-122"/>
                <a:cs typeface="Arial" pitchFamily="34" charset="-120"/>
              </a:rPr>
              <a:t>Midterm; WBS</a:t>
            </a:r>
            <a:endParaRPr lang="en-US" sz="1300" dirty="0"/>
          </a:p>
        </p:txBody>
      </p:sp>
      <p:sp>
        <p:nvSpPr>
          <p:cNvPr id="19" name="Shape 17"/>
          <p:cNvSpPr/>
          <p:nvPr/>
        </p:nvSpPr>
        <p:spPr>
          <a:xfrm>
            <a:off x="6187288" y="1463040"/>
            <a:ext cx="2636444" cy="777240"/>
          </a:xfrm>
          <a:prstGeom prst="roundRect">
            <a:avLst>
              <a:gd name="adj" fmla="val 9412"/>
            </a:avLst>
          </a:prstGeom>
          <a:solidFill>
            <a:srgbClr val="255799"/>
          </a:solidFill>
          <a:ln w="12700">
            <a:solidFill>
              <a:srgbClr val="255799"/>
            </a:solidFill>
            <a:prstDash val="solid"/>
          </a:ln>
        </p:spPr>
      </p:sp>
      <p:sp>
        <p:nvSpPr>
          <p:cNvPr id="20" name="Text 18"/>
          <p:cNvSpPr/>
          <p:nvPr/>
        </p:nvSpPr>
        <p:spPr>
          <a:xfrm>
            <a:off x="6370168" y="1463040"/>
            <a:ext cx="2362124" cy="777240"/>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Sprint 2</a:t>
            </a:r>
            <a:endParaRPr lang="en-US" sz="1500" dirty="0"/>
          </a:p>
          <a:p>
            <a:pPr indent="0" marL="0">
              <a:buNone/>
            </a:pPr>
            <a:r>
              <a:rPr lang="en-US" sz="1200" dirty="0">
                <a:solidFill>
                  <a:srgbClr val="FFFFFF"/>
                </a:solidFill>
                <a:latin typeface="Arial" pitchFamily="34" charset="0"/>
                <a:ea typeface="Arial" pitchFamily="34" charset="-122"/>
                <a:cs typeface="Arial" pitchFamily="34" charset="-120"/>
              </a:rPr>
              <a:t>Nov 3 – Nov 16</a:t>
            </a:r>
            <a:endParaRPr lang="en-US" sz="1500" dirty="0"/>
          </a:p>
        </p:txBody>
      </p:sp>
      <p:sp>
        <p:nvSpPr>
          <p:cNvPr id="21" name="Shape 19"/>
          <p:cNvSpPr/>
          <p:nvPr/>
        </p:nvSpPr>
        <p:spPr>
          <a:xfrm>
            <a:off x="6278728" y="2492502"/>
            <a:ext cx="82296" cy="82296"/>
          </a:xfrm>
          <a:prstGeom prst="ellipse">
            <a:avLst/>
          </a:prstGeom>
          <a:solidFill>
            <a:srgbClr val="255799"/>
          </a:solidFill>
          <a:ln w="12700">
            <a:solidFill>
              <a:srgbClr val="255799"/>
            </a:solidFill>
            <a:prstDash val="solid"/>
          </a:ln>
        </p:spPr>
      </p:sp>
      <p:sp>
        <p:nvSpPr>
          <p:cNvPr id="22" name="Text 20"/>
          <p:cNvSpPr/>
          <p:nvPr/>
        </p:nvSpPr>
        <p:spPr>
          <a:xfrm>
            <a:off x="6507328" y="2423160"/>
            <a:ext cx="2270684" cy="548640"/>
          </a:xfrm>
          <a:prstGeom prst="rect">
            <a:avLst/>
          </a:prstGeom>
          <a:noFill/>
          <a:ln/>
        </p:spPr>
        <p:txBody>
          <a:bodyPr wrap="square" lIns="0" tIns="0" rIns="0" bIns="0" rtlCol="0" anchor="t"/>
          <a:lstStyle/>
          <a:p>
            <a:pPr indent="0" marL="0">
              <a:buNone/>
            </a:pPr>
            <a:r>
              <a:rPr lang="en-US" sz="1300" dirty="0">
                <a:solidFill>
                  <a:srgbClr val="002244"/>
                </a:solidFill>
                <a:latin typeface="Arial" pitchFamily="34" charset="0"/>
                <a:ea typeface="Arial" pitchFamily="34" charset="-122"/>
                <a:cs typeface="Arial" pitchFamily="34" charset="-120"/>
              </a:rPr>
              <a:t>Sponsor demo (week 7)</a:t>
            </a:r>
            <a:endParaRPr lang="en-US" sz="1300" dirty="0"/>
          </a:p>
        </p:txBody>
      </p:sp>
      <p:sp>
        <p:nvSpPr>
          <p:cNvPr id="23" name="Shape 21"/>
          <p:cNvSpPr/>
          <p:nvPr/>
        </p:nvSpPr>
        <p:spPr>
          <a:xfrm>
            <a:off x="6278728" y="3041142"/>
            <a:ext cx="82296" cy="82296"/>
          </a:xfrm>
          <a:prstGeom prst="ellipse">
            <a:avLst/>
          </a:prstGeom>
          <a:solidFill>
            <a:srgbClr val="255799"/>
          </a:solidFill>
          <a:ln w="12700">
            <a:solidFill>
              <a:srgbClr val="255799"/>
            </a:solidFill>
            <a:prstDash val="solid"/>
          </a:ln>
        </p:spPr>
      </p:sp>
      <p:sp>
        <p:nvSpPr>
          <p:cNvPr id="24" name="Text 22"/>
          <p:cNvSpPr/>
          <p:nvPr/>
        </p:nvSpPr>
        <p:spPr>
          <a:xfrm>
            <a:off x="6507328" y="2971800"/>
            <a:ext cx="2270684" cy="548640"/>
          </a:xfrm>
          <a:prstGeom prst="rect">
            <a:avLst/>
          </a:prstGeom>
          <a:noFill/>
          <a:ln/>
        </p:spPr>
        <p:txBody>
          <a:bodyPr wrap="square" lIns="0" tIns="0" rIns="0" bIns="0" rtlCol="0" anchor="t"/>
          <a:lstStyle/>
          <a:p>
            <a:pPr indent="0" marL="0">
              <a:buNone/>
            </a:pPr>
            <a:r>
              <a:rPr lang="en-US" sz="1300" dirty="0">
                <a:solidFill>
                  <a:srgbClr val="002244"/>
                </a:solidFill>
                <a:latin typeface="Arial" pitchFamily="34" charset="0"/>
                <a:ea typeface="Arial" pitchFamily="34" charset="-122"/>
                <a:cs typeface="Arial" pitchFamily="34" charset="-120"/>
              </a:rPr>
              <a:t>Fix double counting</a:t>
            </a:r>
            <a:endParaRPr lang="en-US" sz="1300" dirty="0"/>
          </a:p>
        </p:txBody>
      </p:sp>
      <p:sp>
        <p:nvSpPr>
          <p:cNvPr id="25" name="Shape 23"/>
          <p:cNvSpPr/>
          <p:nvPr/>
        </p:nvSpPr>
        <p:spPr>
          <a:xfrm>
            <a:off x="6278728" y="3589782"/>
            <a:ext cx="82296" cy="82296"/>
          </a:xfrm>
          <a:prstGeom prst="ellipse">
            <a:avLst/>
          </a:prstGeom>
          <a:solidFill>
            <a:srgbClr val="255799"/>
          </a:solidFill>
          <a:ln w="12700">
            <a:solidFill>
              <a:srgbClr val="255799"/>
            </a:solidFill>
            <a:prstDash val="solid"/>
          </a:ln>
        </p:spPr>
      </p:sp>
      <p:sp>
        <p:nvSpPr>
          <p:cNvPr id="26" name="Text 24"/>
          <p:cNvSpPr/>
          <p:nvPr/>
        </p:nvSpPr>
        <p:spPr>
          <a:xfrm>
            <a:off x="6507328" y="3520440"/>
            <a:ext cx="2270684" cy="548640"/>
          </a:xfrm>
          <a:prstGeom prst="rect">
            <a:avLst/>
          </a:prstGeom>
          <a:noFill/>
          <a:ln/>
        </p:spPr>
        <p:txBody>
          <a:bodyPr wrap="square" lIns="0" tIns="0" rIns="0" bIns="0" rtlCol="0" anchor="t"/>
          <a:lstStyle/>
          <a:p>
            <a:pPr indent="0" marL="0">
              <a:buNone/>
            </a:pPr>
            <a:r>
              <a:rPr lang="en-US" sz="1300" dirty="0">
                <a:solidFill>
                  <a:srgbClr val="002244"/>
                </a:solidFill>
                <a:latin typeface="Arial" pitchFamily="34" charset="0"/>
                <a:ea typeface="Arial" pitchFamily="34" charset="-122"/>
                <a:cs typeface="Arial" pitchFamily="34" charset="-120"/>
              </a:rPr>
              <a:t>Delete chats, Downloads page, Insights button</a:t>
            </a:r>
            <a:endParaRPr lang="en-US" sz="1300" dirty="0"/>
          </a:p>
        </p:txBody>
      </p:sp>
      <p:sp>
        <p:nvSpPr>
          <p:cNvPr id="27" name="Shape 25"/>
          <p:cNvSpPr/>
          <p:nvPr/>
        </p:nvSpPr>
        <p:spPr>
          <a:xfrm>
            <a:off x="9006611" y="1463040"/>
            <a:ext cx="2636444" cy="777240"/>
          </a:xfrm>
          <a:prstGeom prst="roundRect">
            <a:avLst>
              <a:gd name="adj" fmla="val 9412"/>
            </a:avLst>
          </a:prstGeom>
          <a:solidFill>
            <a:srgbClr val="1B3D6D"/>
          </a:solidFill>
          <a:ln w="12700">
            <a:solidFill>
              <a:srgbClr val="1B3D6D"/>
            </a:solidFill>
            <a:prstDash val="solid"/>
          </a:ln>
        </p:spPr>
      </p:sp>
      <p:sp>
        <p:nvSpPr>
          <p:cNvPr id="28" name="Text 26"/>
          <p:cNvSpPr/>
          <p:nvPr/>
        </p:nvSpPr>
        <p:spPr>
          <a:xfrm>
            <a:off x="9189491" y="1463040"/>
            <a:ext cx="2362124" cy="777240"/>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Sprint 3</a:t>
            </a:r>
            <a:endParaRPr lang="en-US" sz="1500" dirty="0"/>
          </a:p>
          <a:p>
            <a:pPr indent="0" marL="0">
              <a:buNone/>
            </a:pPr>
            <a:r>
              <a:rPr lang="en-US" sz="1200" dirty="0">
                <a:solidFill>
                  <a:srgbClr val="FFFFFF"/>
                </a:solidFill>
                <a:latin typeface="Arial" pitchFamily="34" charset="0"/>
                <a:ea typeface="Arial" pitchFamily="34" charset="-122"/>
                <a:cs typeface="Arial" pitchFamily="34" charset="-120"/>
              </a:rPr>
              <a:t>Nov 17 – Dec 7</a:t>
            </a:r>
            <a:endParaRPr lang="en-US" sz="1500" dirty="0"/>
          </a:p>
        </p:txBody>
      </p:sp>
      <p:sp>
        <p:nvSpPr>
          <p:cNvPr id="29" name="Shape 27"/>
          <p:cNvSpPr/>
          <p:nvPr/>
        </p:nvSpPr>
        <p:spPr>
          <a:xfrm>
            <a:off x="9098051" y="2492502"/>
            <a:ext cx="82296" cy="82296"/>
          </a:xfrm>
          <a:prstGeom prst="ellipse">
            <a:avLst/>
          </a:prstGeom>
          <a:solidFill>
            <a:srgbClr val="255799"/>
          </a:solidFill>
          <a:ln w="12700">
            <a:solidFill>
              <a:srgbClr val="255799"/>
            </a:solidFill>
            <a:prstDash val="solid"/>
          </a:ln>
        </p:spPr>
      </p:sp>
      <p:sp>
        <p:nvSpPr>
          <p:cNvPr id="30" name="Text 28"/>
          <p:cNvSpPr/>
          <p:nvPr/>
        </p:nvSpPr>
        <p:spPr>
          <a:xfrm>
            <a:off x="9326651" y="2423160"/>
            <a:ext cx="2270684" cy="548640"/>
          </a:xfrm>
          <a:prstGeom prst="rect">
            <a:avLst/>
          </a:prstGeom>
          <a:noFill/>
          <a:ln/>
        </p:spPr>
        <p:txBody>
          <a:bodyPr wrap="square" lIns="0" tIns="0" rIns="0" bIns="0" rtlCol="0" anchor="t"/>
          <a:lstStyle/>
          <a:p>
            <a:pPr indent="0" marL="0">
              <a:buNone/>
            </a:pPr>
            <a:r>
              <a:rPr lang="en-US" sz="1300" dirty="0">
                <a:solidFill>
                  <a:srgbClr val="002244"/>
                </a:solidFill>
                <a:latin typeface="Arial" pitchFamily="34" charset="0"/>
                <a:ea typeface="Arial" pitchFamily="34" charset="-122"/>
                <a:cs typeface="Arial" pitchFamily="34" charset="-120"/>
              </a:rPr>
              <a:t>Staff login; automated CI</a:t>
            </a:r>
            <a:endParaRPr lang="en-US" sz="1300" dirty="0"/>
          </a:p>
        </p:txBody>
      </p:sp>
      <p:sp>
        <p:nvSpPr>
          <p:cNvPr id="31" name="Shape 29"/>
          <p:cNvSpPr/>
          <p:nvPr/>
        </p:nvSpPr>
        <p:spPr>
          <a:xfrm>
            <a:off x="9098051" y="3041142"/>
            <a:ext cx="82296" cy="82296"/>
          </a:xfrm>
          <a:prstGeom prst="ellipse">
            <a:avLst/>
          </a:prstGeom>
          <a:solidFill>
            <a:srgbClr val="255799"/>
          </a:solidFill>
          <a:ln w="12700">
            <a:solidFill>
              <a:srgbClr val="255799"/>
            </a:solidFill>
            <a:prstDash val="solid"/>
          </a:ln>
        </p:spPr>
      </p:sp>
      <p:sp>
        <p:nvSpPr>
          <p:cNvPr id="32" name="Text 30"/>
          <p:cNvSpPr/>
          <p:nvPr/>
        </p:nvSpPr>
        <p:spPr>
          <a:xfrm>
            <a:off x="9326651" y="2971800"/>
            <a:ext cx="2270684" cy="548640"/>
          </a:xfrm>
          <a:prstGeom prst="rect">
            <a:avLst/>
          </a:prstGeom>
          <a:noFill/>
          <a:ln/>
        </p:spPr>
        <p:txBody>
          <a:bodyPr wrap="square" lIns="0" tIns="0" rIns="0" bIns="0" rtlCol="0" anchor="t"/>
          <a:lstStyle/>
          <a:p>
            <a:pPr indent="0" marL="0">
              <a:buNone/>
            </a:pPr>
            <a:r>
              <a:rPr lang="en-US" sz="1300" dirty="0">
                <a:solidFill>
                  <a:srgbClr val="002244"/>
                </a:solidFill>
                <a:latin typeface="Arial" pitchFamily="34" charset="0"/>
                <a:ea typeface="Arial" pitchFamily="34" charset="-122"/>
                <a:cs typeface="Arial" pitchFamily="34" charset="-120"/>
              </a:rPr>
              <a:t>Install at the GPSRC; staff training</a:t>
            </a:r>
            <a:endParaRPr lang="en-US" sz="1300" dirty="0"/>
          </a:p>
        </p:txBody>
      </p:sp>
      <p:sp>
        <p:nvSpPr>
          <p:cNvPr id="33" name="Shape 31"/>
          <p:cNvSpPr/>
          <p:nvPr/>
        </p:nvSpPr>
        <p:spPr>
          <a:xfrm>
            <a:off x="9098051" y="3589782"/>
            <a:ext cx="82296" cy="82296"/>
          </a:xfrm>
          <a:prstGeom prst="ellipse">
            <a:avLst/>
          </a:prstGeom>
          <a:solidFill>
            <a:srgbClr val="255799"/>
          </a:solidFill>
          <a:ln w="12700">
            <a:solidFill>
              <a:srgbClr val="255799"/>
            </a:solidFill>
            <a:prstDash val="solid"/>
          </a:ln>
        </p:spPr>
      </p:sp>
      <p:sp>
        <p:nvSpPr>
          <p:cNvPr id="34" name="Text 32"/>
          <p:cNvSpPr/>
          <p:nvPr/>
        </p:nvSpPr>
        <p:spPr>
          <a:xfrm>
            <a:off x="9326651" y="3520440"/>
            <a:ext cx="2270684" cy="548640"/>
          </a:xfrm>
          <a:prstGeom prst="rect">
            <a:avLst/>
          </a:prstGeom>
          <a:noFill/>
          <a:ln/>
        </p:spPr>
        <p:txBody>
          <a:bodyPr wrap="square" lIns="0" tIns="0" rIns="0" bIns="0" rtlCol="0" anchor="t"/>
          <a:lstStyle/>
          <a:p>
            <a:pPr indent="0" marL="0">
              <a:buNone/>
            </a:pPr>
            <a:r>
              <a:rPr lang="en-US" sz="1300" dirty="0">
                <a:solidFill>
                  <a:srgbClr val="002244"/>
                </a:solidFill>
                <a:latin typeface="Arial" pitchFamily="34" charset="0"/>
                <a:ea typeface="Arial" pitchFamily="34" charset="-122"/>
                <a:cs typeface="Arial" pitchFamily="34" charset="-120"/>
              </a:rPr>
              <a:t>Final demo Dec 4; Showcase Dec 7</a:t>
            </a:r>
            <a:endParaRPr lang="en-US" sz="1300" dirty="0"/>
          </a:p>
        </p:txBody>
      </p:sp>
      <p:sp>
        <p:nvSpPr>
          <p:cNvPr id="35" name="Shape 33"/>
          <p:cNvSpPr/>
          <p:nvPr/>
        </p:nvSpPr>
        <p:spPr>
          <a:xfrm>
            <a:off x="548640" y="4206240"/>
            <a:ext cx="11094415" cy="2057400"/>
          </a:xfrm>
          <a:prstGeom prst="roundRect">
            <a:avLst>
              <a:gd name="adj" fmla="val 4444"/>
            </a:avLst>
          </a:prstGeom>
          <a:solidFill>
            <a:srgbClr val="F3F6FA"/>
          </a:solidFill>
          <a:ln w="12700">
            <a:solidFill>
              <a:srgbClr val="F3F6FA"/>
            </a:solidFill>
            <a:prstDash val="solid"/>
          </a:ln>
        </p:spPr>
      </p:sp>
      <p:sp>
        <p:nvSpPr>
          <p:cNvPr id="36" name="Text 34"/>
          <p:cNvSpPr/>
          <p:nvPr/>
        </p:nvSpPr>
        <p:spPr>
          <a:xfrm>
            <a:off x="868680" y="4370832"/>
            <a:ext cx="5486400" cy="365760"/>
          </a:xfrm>
          <a:prstGeom prst="rect">
            <a:avLst/>
          </a:prstGeom>
          <a:noFill/>
          <a:ln/>
        </p:spPr>
        <p:txBody>
          <a:bodyPr wrap="square" lIns="0" tIns="0" rIns="0" bIns="0" rtlCol="0" anchor="ctr"/>
          <a:lstStyle/>
          <a:p>
            <a:pPr indent="0" marL="0">
              <a:buNone/>
            </a:pPr>
            <a:r>
              <a:rPr lang="en-US" sz="1600" b="1" dirty="0">
                <a:solidFill>
                  <a:srgbClr val="002244"/>
                </a:solidFill>
                <a:latin typeface="Arial" pitchFamily="34" charset="0"/>
                <a:ea typeface="Arial" pitchFamily="34" charset="-122"/>
                <a:cs typeface="Arial" pitchFamily="34" charset="-120"/>
              </a:rPr>
              <a:t>Risks and dependencies</a:t>
            </a:r>
            <a:endParaRPr lang="en-US" sz="1600" dirty="0"/>
          </a:p>
        </p:txBody>
      </p:sp>
      <p:pic>
        <p:nvPicPr>
          <p:cNvPr id="37" name="Image 0" descr="preencoded.png">    </p:cNvPr>
          <p:cNvPicPr>
            <a:picLocks noChangeAspect="1"/>
          </p:cNvPicPr>
          <p:nvPr/>
        </p:nvPicPr>
        <p:blipFill>
          <a:blip r:embed="rId1"/>
          <a:stretch>
            <a:fillRect/>
          </a:stretch>
        </p:blipFill>
        <p:spPr>
          <a:xfrm>
            <a:off x="868680" y="4919472"/>
            <a:ext cx="292608" cy="292608"/>
          </a:xfrm>
          <a:prstGeom prst="rect">
            <a:avLst/>
          </a:prstGeom>
        </p:spPr>
      </p:pic>
      <p:sp>
        <p:nvSpPr>
          <p:cNvPr id="38" name="Text 35"/>
          <p:cNvSpPr/>
          <p:nvPr/>
        </p:nvSpPr>
        <p:spPr>
          <a:xfrm>
            <a:off x="1280160" y="4892040"/>
            <a:ext cx="4678528" cy="347472"/>
          </a:xfrm>
          <a:prstGeom prst="rect">
            <a:avLst/>
          </a:prstGeom>
          <a:noFill/>
          <a:ln/>
        </p:spPr>
        <p:txBody>
          <a:bodyPr wrap="square" lIns="0" tIns="0" rIns="0" bIns="0" rtlCol="0" anchor="ctr"/>
          <a:lstStyle/>
          <a:p>
            <a:pPr indent="0" marL="0">
              <a:buNone/>
            </a:pPr>
            <a:r>
              <a:rPr lang="en-US" sz="1350" dirty="0">
                <a:solidFill>
                  <a:srgbClr val="002244"/>
                </a:solidFill>
                <a:latin typeface="Arial" pitchFamily="34" charset="0"/>
                <a:ea typeface="Arial" pitchFamily="34" charset="-122"/>
                <a:cs typeface="Arial" pitchFamily="34" charset="-120"/>
              </a:rPr>
              <a:t>Sponsor approval for the AI reading query results</a:t>
            </a:r>
            <a:endParaRPr lang="en-US" sz="1350" dirty="0"/>
          </a:p>
        </p:txBody>
      </p:sp>
      <p:pic>
        <p:nvPicPr>
          <p:cNvPr id="39" name="Image 1" descr="preencoded.png">    </p:cNvPr>
          <p:cNvPicPr>
            <a:picLocks noChangeAspect="1"/>
          </p:cNvPicPr>
          <p:nvPr/>
        </p:nvPicPr>
        <p:blipFill>
          <a:blip r:embed="rId2"/>
          <a:stretch>
            <a:fillRect/>
          </a:stretch>
        </p:blipFill>
        <p:spPr>
          <a:xfrm>
            <a:off x="6095848" y="4919472"/>
            <a:ext cx="292608" cy="292608"/>
          </a:xfrm>
          <a:prstGeom prst="rect">
            <a:avLst/>
          </a:prstGeom>
        </p:spPr>
      </p:pic>
      <p:sp>
        <p:nvSpPr>
          <p:cNvPr id="40" name="Text 36"/>
          <p:cNvSpPr/>
          <p:nvPr/>
        </p:nvSpPr>
        <p:spPr>
          <a:xfrm>
            <a:off x="6507328" y="4892040"/>
            <a:ext cx="4678528" cy="347472"/>
          </a:xfrm>
          <a:prstGeom prst="rect">
            <a:avLst/>
          </a:prstGeom>
          <a:noFill/>
          <a:ln/>
        </p:spPr>
        <p:txBody>
          <a:bodyPr wrap="square" lIns="0" tIns="0" rIns="0" bIns="0" rtlCol="0" anchor="ctr"/>
          <a:lstStyle/>
          <a:p>
            <a:pPr indent="0" marL="0">
              <a:buNone/>
            </a:pPr>
            <a:r>
              <a:rPr lang="en-US" sz="1350" dirty="0">
                <a:solidFill>
                  <a:srgbClr val="002244"/>
                </a:solidFill>
                <a:latin typeface="Arial" pitchFamily="34" charset="0"/>
                <a:ea typeface="Arial" pitchFamily="34" charset="-122"/>
                <a:cs typeface="Arial" pitchFamily="34" charset="-120"/>
              </a:rPr>
              <a:t>ZotGPT access and AI credits ($100–200 request)</a:t>
            </a:r>
            <a:endParaRPr lang="en-US" sz="1350" dirty="0"/>
          </a:p>
        </p:txBody>
      </p:sp>
      <p:pic>
        <p:nvPicPr>
          <p:cNvPr id="41" name="Image 2" descr="preencoded.png">    </p:cNvPr>
          <p:cNvPicPr>
            <a:picLocks noChangeAspect="1"/>
          </p:cNvPicPr>
          <p:nvPr/>
        </p:nvPicPr>
        <p:blipFill>
          <a:blip r:embed="rId3"/>
          <a:stretch>
            <a:fillRect/>
          </a:stretch>
        </p:blipFill>
        <p:spPr>
          <a:xfrm>
            <a:off x="868680" y="5486400"/>
            <a:ext cx="292608" cy="292608"/>
          </a:xfrm>
          <a:prstGeom prst="rect">
            <a:avLst/>
          </a:prstGeom>
        </p:spPr>
      </p:pic>
      <p:sp>
        <p:nvSpPr>
          <p:cNvPr id="42" name="Text 37"/>
          <p:cNvSpPr/>
          <p:nvPr/>
        </p:nvSpPr>
        <p:spPr>
          <a:xfrm>
            <a:off x="1280160" y="5458968"/>
            <a:ext cx="4678528" cy="347472"/>
          </a:xfrm>
          <a:prstGeom prst="rect">
            <a:avLst/>
          </a:prstGeom>
          <a:noFill/>
          <a:ln/>
        </p:spPr>
        <p:txBody>
          <a:bodyPr wrap="square" lIns="0" tIns="0" rIns="0" bIns="0" rtlCol="0" anchor="ctr"/>
          <a:lstStyle/>
          <a:p>
            <a:pPr indent="0" marL="0">
              <a:buNone/>
            </a:pPr>
            <a:r>
              <a:rPr lang="en-US" sz="1350" dirty="0">
                <a:solidFill>
                  <a:srgbClr val="002244"/>
                </a:solidFill>
                <a:latin typeface="Arial" pitchFamily="34" charset="0"/>
                <a:ea typeface="Arial" pitchFamily="34" charset="-122"/>
                <a:cs typeface="Arial" pitchFamily="34" charset="-120"/>
              </a:rPr>
              <a:t>Docker Desktop on the GPSRC computer (admin rights)</a:t>
            </a:r>
            <a:endParaRPr lang="en-US" sz="1350" dirty="0"/>
          </a:p>
        </p:txBody>
      </p:sp>
      <p:pic>
        <p:nvPicPr>
          <p:cNvPr id="43" name="Image 3" descr="preencoded.png">    </p:cNvPr>
          <p:cNvPicPr>
            <a:picLocks noChangeAspect="1"/>
          </p:cNvPicPr>
          <p:nvPr/>
        </p:nvPicPr>
        <p:blipFill>
          <a:blip r:embed="rId4"/>
          <a:stretch>
            <a:fillRect/>
          </a:stretch>
        </p:blipFill>
        <p:spPr>
          <a:xfrm>
            <a:off x="6095848" y="5486400"/>
            <a:ext cx="292608" cy="292608"/>
          </a:xfrm>
          <a:prstGeom prst="rect">
            <a:avLst/>
          </a:prstGeom>
        </p:spPr>
      </p:pic>
      <p:sp>
        <p:nvSpPr>
          <p:cNvPr id="44" name="Text 38"/>
          <p:cNvSpPr/>
          <p:nvPr/>
        </p:nvSpPr>
        <p:spPr>
          <a:xfrm>
            <a:off x="6507328" y="5458968"/>
            <a:ext cx="4678528" cy="347472"/>
          </a:xfrm>
          <a:prstGeom prst="rect">
            <a:avLst/>
          </a:prstGeom>
          <a:noFill/>
          <a:ln/>
        </p:spPr>
        <p:txBody>
          <a:bodyPr wrap="square" lIns="0" tIns="0" rIns="0" bIns="0" rtlCol="0" anchor="ctr"/>
          <a:lstStyle/>
          <a:p>
            <a:pPr indent="0" marL="0">
              <a:buNone/>
            </a:pPr>
            <a:r>
              <a:rPr lang="en-US" sz="1350" dirty="0">
                <a:solidFill>
                  <a:srgbClr val="002244"/>
                </a:solidFill>
                <a:latin typeface="Arial" pitchFamily="34" charset="0"/>
                <a:ea typeface="Arial" pitchFamily="34" charset="-122"/>
                <a:cs typeface="Arial" pitchFamily="34" charset="-120"/>
              </a:rPr>
              <a:t>Real export files may differ from our synthetic samples</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B3D6D"/>
        </a:solidFill>
      </p:bgPr>
    </p:bg>
    <p:spTree>
      <p:nvGrpSpPr>
        <p:cNvPr id="1" name=""/>
        <p:cNvGrpSpPr/>
        <p:nvPr/>
      </p:nvGrpSpPr>
      <p:grpSpPr>
        <a:xfrm>
          <a:off x="0" y="0"/>
          <a:ext cx="0" cy="0"/>
          <a:chOff x="0" y="0"/>
          <a:chExt cx="0" cy="0"/>
        </a:xfrm>
      </p:grpSpPr>
      <p:sp>
        <p:nvSpPr>
          <p:cNvPr id="2" name="Text 0"/>
          <p:cNvSpPr/>
          <p:nvPr/>
        </p:nvSpPr>
        <p:spPr>
          <a:xfrm>
            <a:off x="548640" y="731520"/>
            <a:ext cx="3657600" cy="274320"/>
          </a:xfrm>
          <a:prstGeom prst="rect">
            <a:avLst/>
          </a:prstGeom>
          <a:noFill/>
          <a:ln/>
        </p:spPr>
        <p:txBody>
          <a:bodyPr wrap="square" lIns="0" tIns="0" rIns="0" bIns="0" rtlCol="0" anchor="ctr"/>
          <a:lstStyle/>
          <a:p>
            <a:pPr indent="0" marL="0">
              <a:buNone/>
            </a:pPr>
            <a:r>
              <a:rPr lang="en-US" sz="1200" b="1" spc="200" kern="0" dirty="0">
                <a:solidFill>
                  <a:srgbClr val="FECC07"/>
                </a:solidFill>
                <a:latin typeface="Arial" pitchFamily="34" charset="0"/>
                <a:ea typeface="Arial" pitchFamily="34" charset="-122"/>
                <a:cs typeface="Arial" pitchFamily="34" charset="-120"/>
              </a:rPr>
              <a:t>CLOSING</a:t>
            </a:r>
            <a:endParaRPr lang="en-US" sz="1200" dirty="0"/>
          </a:p>
        </p:txBody>
      </p:sp>
      <p:sp>
        <p:nvSpPr>
          <p:cNvPr id="3" name="Text 1"/>
          <p:cNvSpPr/>
          <p:nvPr/>
        </p:nvSpPr>
        <p:spPr>
          <a:xfrm>
            <a:off x="548640" y="1097280"/>
            <a:ext cx="6400800" cy="822960"/>
          </a:xfrm>
          <a:prstGeom prst="rect">
            <a:avLst/>
          </a:prstGeom>
          <a:noFill/>
          <a:ln/>
        </p:spPr>
        <p:txBody>
          <a:bodyPr wrap="square" lIns="0" tIns="0" rIns="0" bIns="0" rtlCol="0" anchor="ctr"/>
          <a:lstStyle/>
          <a:p>
            <a:pPr indent="0" marL="0">
              <a:buNone/>
            </a:pPr>
            <a:r>
              <a:rPr lang="en-US" sz="4400" b="1" dirty="0">
                <a:solidFill>
                  <a:srgbClr val="FFFFFF"/>
                </a:solidFill>
                <a:latin typeface="Arial" pitchFamily="34" charset="0"/>
                <a:ea typeface="Arial" pitchFamily="34" charset="-122"/>
                <a:cs typeface="Arial" pitchFamily="34" charset="-120"/>
              </a:rPr>
              <a:t>Thank you</a:t>
            </a:r>
            <a:endParaRPr lang="en-US" sz="4400" dirty="0"/>
          </a:p>
        </p:txBody>
      </p:sp>
      <p:pic>
        <p:nvPicPr>
          <p:cNvPr id="4" name="Image 0" descr="preencoded.png">    </p:cNvPr>
          <p:cNvPicPr>
            <a:picLocks noChangeAspect="1"/>
          </p:cNvPicPr>
          <p:nvPr/>
        </p:nvPicPr>
        <p:blipFill>
          <a:blip r:embed="rId1"/>
          <a:stretch>
            <a:fillRect/>
          </a:stretch>
        </p:blipFill>
        <p:spPr>
          <a:xfrm>
            <a:off x="548640" y="2441448"/>
            <a:ext cx="329184" cy="329184"/>
          </a:xfrm>
          <a:prstGeom prst="rect">
            <a:avLst/>
          </a:prstGeom>
        </p:spPr>
      </p:pic>
      <p:sp>
        <p:nvSpPr>
          <p:cNvPr id="5" name="Text 2"/>
          <p:cNvSpPr/>
          <p:nvPr/>
        </p:nvSpPr>
        <p:spPr>
          <a:xfrm>
            <a:off x="1097280" y="2377440"/>
            <a:ext cx="5852160" cy="45720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A working MVP, about a month ahead of plan</a:t>
            </a:r>
            <a:endParaRPr lang="en-US" sz="1700" dirty="0"/>
          </a:p>
        </p:txBody>
      </p:sp>
      <p:pic>
        <p:nvPicPr>
          <p:cNvPr id="6" name="Image 1" descr="preencoded.png">    </p:cNvPr>
          <p:cNvPicPr>
            <a:picLocks noChangeAspect="1"/>
          </p:cNvPicPr>
          <p:nvPr/>
        </p:nvPicPr>
        <p:blipFill>
          <a:blip r:embed="rId2"/>
          <a:stretch>
            <a:fillRect/>
          </a:stretch>
        </p:blipFill>
        <p:spPr>
          <a:xfrm>
            <a:off x="548640" y="3127248"/>
            <a:ext cx="329184" cy="329184"/>
          </a:xfrm>
          <a:prstGeom prst="rect">
            <a:avLst/>
          </a:prstGeom>
        </p:spPr>
      </p:pic>
      <p:sp>
        <p:nvSpPr>
          <p:cNvPr id="7" name="Text 3"/>
          <p:cNvSpPr/>
          <p:nvPr/>
        </p:nvSpPr>
        <p:spPr>
          <a:xfrm>
            <a:off x="1097280" y="3063240"/>
            <a:ext cx="5852160" cy="45720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All three success metrics met on sample data</a:t>
            </a:r>
            <a:endParaRPr lang="en-US" sz="1700" dirty="0"/>
          </a:p>
        </p:txBody>
      </p:sp>
      <p:pic>
        <p:nvPicPr>
          <p:cNvPr id="8" name="Image 2" descr="preencoded.png">    </p:cNvPr>
          <p:cNvPicPr>
            <a:picLocks noChangeAspect="1"/>
          </p:cNvPicPr>
          <p:nvPr/>
        </p:nvPicPr>
        <p:blipFill>
          <a:blip r:embed="rId3"/>
          <a:stretch>
            <a:fillRect/>
          </a:stretch>
        </p:blipFill>
        <p:spPr>
          <a:xfrm>
            <a:off x="548640" y="3813048"/>
            <a:ext cx="329184" cy="329184"/>
          </a:xfrm>
          <a:prstGeom prst="rect">
            <a:avLst/>
          </a:prstGeom>
        </p:spPr>
      </p:pic>
      <p:sp>
        <p:nvSpPr>
          <p:cNvPr id="9" name="Text 4"/>
          <p:cNvSpPr/>
          <p:nvPr/>
        </p:nvSpPr>
        <p:spPr>
          <a:xfrm>
            <a:off x="1097280" y="3749040"/>
            <a:ext cx="5852160" cy="45720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Privacy first: the AI writes SQL without student rows</a:t>
            </a:r>
            <a:endParaRPr lang="en-US" sz="1700" dirty="0"/>
          </a:p>
        </p:txBody>
      </p:sp>
      <p:sp>
        <p:nvSpPr>
          <p:cNvPr id="10" name="Text 5"/>
          <p:cNvSpPr/>
          <p:nvPr/>
        </p:nvSpPr>
        <p:spPr>
          <a:xfrm>
            <a:off x="548640" y="4663440"/>
            <a:ext cx="6035040" cy="822960"/>
          </a:xfrm>
          <a:prstGeom prst="rect">
            <a:avLst/>
          </a:prstGeom>
          <a:noFill/>
          <a:ln/>
        </p:spPr>
        <p:txBody>
          <a:bodyPr wrap="square" lIns="0" tIns="0" rIns="0" bIns="0" rtlCol="0" anchor="t"/>
          <a:lstStyle/>
          <a:p>
            <a:pPr indent="0" marL="0">
              <a:buNone/>
            </a:pPr>
            <a:r>
              <a:rPr lang="en-US" sz="1500" dirty="0">
                <a:solidFill>
                  <a:srgbClr val="DCE5F1"/>
                </a:solidFill>
                <a:latin typeface="Arial" pitchFamily="34" charset="0"/>
                <a:ea typeface="Arial" pitchFamily="34" charset="-122"/>
                <a:cs typeface="Arial" pitchFamily="34" charset="-120"/>
              </a:rPr>
              <a:t>Thank you to our sponsor, Dr. Kayleigh Anderson-Natale, and the GPSRC team for their time, sample data and feedback.</a:t>
            </a:r>
            <a:endParaRPr lang="en-US" sz="1500" dirty="0"/>
          </a:p>
        </p:txBody>
      </p:sp>
      <p:sp>
        <p:nvSpPr>
          <p:cNvPr id="11" name="Shape 6"/>
          <p:cNvSpPr/>
          <p:nvPr/>
        </p:nvSpPr>
        <p:spPr>
          <a:xfrm>
            <a:off x="8613648" y="1737360"/>
            <a:ext cx="1737360" cy="1737360"/>
          </a:xfrm>
          <a:prstGeom prst="ellipse">
            <a:avLst/>
          </a:prstGeom>
          <a:solidFill>
            <a:srgbClr val="FECC07"/>
          </a:solidFill>
          <a:ln w="12700">
            <a:solidFill>
              <a:srgbClr val="FECC07"/>
            </a:solidFill>
            <a:prstDash val="solid"/>
          </a:ln>
        </p:spPr>
      </p:sp>
      <p:pic>
        <p:nvPicPr>
          <p:cNvPr id="12" name="Image 3" descr="preencoded.png">    </p:cNvPr>
          <p:cNvPicPr>
            <a:picLocks noChangeAspect="1"/>
          </p:cNvPicPr>
          <p:nvPr/>
        </p:nvPicPr>
        <p:blipFill>
          <a:blip r:embed="rId4"/>
          <a:stretch>
            <a:fillRect/>
          </a:stretch>
        </p:blipFill>
        <p:spPr>
          <a:xfrm>
            <a:off x="8995867" y="2119579"/>
            <a:ext cx="972922" cy="972922"/>
          </a:xfrm>
          <a:prstGeom prst="rect">
            <a:avLst/>
          </a:prstGeom>
        </p:spPr>
      </p:pic>
      <p:sp>
        <p:nvSpPr>
          <p:cNvPr id="13" name="Text 7"/>
          <p:cNvSpPr/>
          <p:nvPr/>
        </p:nvSpPr>
        <p:spPr>
          <a:xfrm>
            <a:off x="7315200" y="3749040"/>
            <a:ext cx="4325112" cy="548640"/>
          </a:xfrm>
          <a:prstGeom prst="rect">
            <a:avLst/>
          </a:prstGeom>
          <a:noFill/>
          <a:ln/>
        </p:spPr>
        <p:txBody>
          <a:bodyPr wrap="square" lIns="0" tIns="0" rIns="0" bIns="0" rtlCol="0" anchor="ctr"/>
          <a:lstStyle/>
          <a:p>
            <a:pPr algn="ctr" indent="0" marL="0">
              <a:buNone/>
            </a:pPr>
            <a:r>
              <a:rPr lang="en-US" sz="2400" b="1" dirty="0">
                <a:solidFill>
                  <a:srgbClr val="FECC07"/>
                </a:solidFill>
                <a:latin typeface="Arial" pitchFamily="34" charset="0"/>
                <a:ea typeface="Arial" pitchFamily="34" charset="-122"/>
                <a:cs typeface="Arial" pitchFamily="34" charset="-120"/>
              </a:rPr>
              <a:t>Questions and feedback?</a:t>
            </a:r>
            <a:endParaRPr lang="en-US" sz="2400" dirty="0"/>
          </a:p>
        </p:txBody>
      </p:sp>
      <p:sp>
        <p:nvSpPr>
          <p:cNvPr id="14" name="Text 8"/>
          <p:cNvSpPr/>
          <p:nvPr/>
        </p:nvSpPr>
        <p:spPr>
          <a:xfrm>
            <a:off x="7315200" y="4343400"/>
            <a:ext cx="4325112" cy="365760"/>
          </a:xfrm>
          <a:prstGeom prst="rect">
            <a:avLst/>
          </a:prstGeom>
          <a:noFill/>
          <a:ln/>
        </p:spPr>
        <p:txBody>
          <a:bodyPr wrap="square" lIns="0" tIns="0" rIns="0" bIns="0" rtlCol="0" anchor="ctr"/>
          <a:lstStyle/>
          <a:p>
            <a:pPr algn="ctr" indent="0" marL="0">
              <a:buNone/>
            </a:pPr>
            <a:r>
              <a:rPr lang="en-US" sz="1300" dirty="0">
                <a:solidFill>
                  <a:srgbClr val="DCE5F1"/>
                </a:solidFill>
                <a:latin typeface="Arial" pitchFamily="34" charset="0"/>
                <a:ea typeface="Arial" pitchFamily="34" charset="-122"/>
                <a:cs typeface="Arial" pitchFamily="34" charset="-120"/>
              </a:rPr>
              <a:t>Team ZotSync  ·  Brandon, Jennifer, Molly, Eric</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Program Registration &amp; Attendance Data Hub: Midterm</dc:title>
  <dc:subject>PptxGenJS Presentation</dc:subject>
  <dc:creator>Team ZotSync</dc:creator>
  <cp:lastModifiedBy>Team ZotSync</cp:lastModifiedBy>
  <cp:revision>1</cp:revision>
  <dcterms:created xsi:type="dcterms:W3CDTF">2026-10-27T01:15:21Z</dcterms:created>
  <dcterms:modified xsi:type="dcterms:W3CDTF">2026-10-27T01:15:21Z</dcterms:modified>
</cp:coreProperties>
</file>